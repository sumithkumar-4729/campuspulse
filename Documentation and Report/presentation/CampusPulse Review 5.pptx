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B88F7D7-44BA-454C-AF08-C0249A0DBA2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EFF2DD1-9386-4074-9C42-C633C8AF7E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E217ED3-3BA6-4A10-B4B6-9A5DFE694E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AB5DF6-73FA-4706-8E98-F479AAD7F28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56334B1-5035-4715-97D1-8395EC1C4F2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72BCC1D-DB48-4A4F-A9F8-4FE83FBB864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2066F17-8C55-44D0-85AA-E46BC24EFD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10EFA4B-B392-442B-9F07-7C1D71AC41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9A96B3D-3E8C-42B7-BB5A-90E10D2C28F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0A284EB-800D-45A7-B262-F8E01D6EAA9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6C7A43F-1A66-4D3D-8298-BCE7D17A60F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B98100F-4AD6-4D94-B4A7-BC9B91918CB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C6FF943-C83B-4160-A4E0-8FF3B8D6584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43DCB1B-0660-49E0-9F94-1F37F3B49B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64F6D22-27E2-4085-819A-723A819865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EC12453-B19C-4B9D-9D03-F3C9E9DF83A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DFF7510-17CB-462B-B247-987471F6AAE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CB9225A-9C86-46BC-A827-C1D7FF80A26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2F4A734-CB0A-4C9F-80DB-24DE420531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D55433A-627E-43B1-AFB2-168309042E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6ED9BD2-5882-4D07-8471-E6A78662436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A905ED4-DE91-4532-B03A-25383B41B37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A375BD1-7FA7-4DB6-B201-9D046B0B453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D11D510-B6BA-410B-A4BA-241750743BD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34230E9-3A45-4748-B903-00279946FE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CAAAFC2-F263-4BB3-AB61-84BB8EF290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E35BAE8-BED4-41A9-8A79-0888A62FD1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6D4B285-71F5-43F6-A644-9C605B4F519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2F9375A-684B-430A-95FA-867652E5379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E56CAB4-6E05-42C2-A23A-F1877A4BA45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9C945E5-6055-4E17-83AB-EBE93AE492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33C1A24-A5AF-44DB-8881-E60DC861A38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80FE53F-6F32-4ED8-B251-D39BE91E96B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85158A4-2609-4B33-BCCB-D2B6127ED56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F97922F-8A86-4FEF-A29B-64B3FFE8863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6A5D867-FB92-4663-97CF-59E7E4287A2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B3293DA-4DB2-407D-98BB-AFA928ADA8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99406F8-B373-47FD-8EB4-F2F14B561A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4D7A8EF-7019-420A-8E71-3994CA8A1B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5DF4BFD-2365-4178-B779-D11665201D4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9D5546C-D2CC-4657-87B3-BA35D337A24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A266667-49C4-40A2-893E-DE4C5BAC4A0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E106F42-B7FA-4EB6-9527-558D101F9E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350EB24-A45C-4B5D-92A0-CFE417E9A79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6FD485C-56D2-4A16-85F3-41E5457F67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6581FA3-6DCD-446E-B135-ACD709D6F4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59F33A6-9ED9-4140-B476-5CAD52B0AD8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BB2D2FE-9AE8-4252-AF9F-EEC7A4EF07F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1;p1"/>
          <p:cNvSpPr/>
          <p:nvPr/>
        </p:nvSpPr>
        <p:spPr>
          <a:xfrm>
            <a:off x="812880" y="914400"/>
            <a:ext cx="106657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" name="Google Shape;12;p1" descr=""/>
          <p:cNvPicPr/>
          <p:nvPr/>
        </p:nvPicPr>
        <p:blipFill>
          <a:blip r:embed="rId2"/>
          <a:srcRect l="0" t="0" r="0" b="18053"/>
          <a:stretch/>
        </p:blipFill>
        <p:spPr>
          <a:xfrm>
            <a:off x="0" y="5991480"/>
            <a:ext cx="12189960" cy="86436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ftr" idx="1"/>
          </p:nvPr>
        </p:nvSpPr>
        <p:spPr>
          <a:xfrm>
            <a:off x="4165560" y="6356520"/>
            <a:ext cx="385848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>
          <a:xfrm>
            <a:off x="8737560" y="6356520"/>
            <a:ext cx="284292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421624C-211D-4CF4-8CB1-6F7819358DAE}" type="slidenum">
              <a:rPr b="0" lang="en-GB" sz="120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>
          <a:xfrm>
            <a:off x="609480" y="6356520"/>
            <a:ext cx="284292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11;p1"/>
          <p:cNvSpPr/>
          <p:nvPr/>
        </p:nvSpPr>
        <p:spPr>
          <a:xfrm>
            <a:off x="812880" y="914400"/>
            <a:ext cx="106657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4" name="Google Shape;12;p1" descr=""/>
          <p:cNvPicPr/>
          <p:nvPr/>
        </p:nvPicPr>
        <p:blipFill>
          <a:blip r:embed="rId2"/>
          <a:srcRect l="0" t="0" r="0" b="18053"/>
          <a:stretch/>
        </p:blipFill>
        <p:spPr>
          <a:xfrm>
            <a:off x="0" y="5991480"/>
            <a:ext cx="12189960" cy="864360"/>
          </a:xfrm>
          <a:prstGeom prst="rect">
            <a:avLst/>
          </a:prstGeom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ftr" idx="4"/>
          </p:nvPr>
        </p:nvSpPr>
        <p:spPr>
          <a:xfrm>
            <a:off x="4165560" y="6356520"/>
            <a:ext cx="385848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ldNum" idx="5"/>
          </p:nvPr>
        </p:nvSpPr>
        <p:spPr>
          <a:xfrm>
            <a:off x="8737560" y="6356520"/>
            <a:ext cx="284292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C906811-1993-4729-99D5-D9C1ADF9E12E}" type="slidenum">
              <a:rPr b="0" lang="en-GB" sz="120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6"/>
          </p:nvPr>
        </p:nvSpPr>
        <p:spPr>
          <a:xfrm>
            <a:off x="609480" y="6356520"/>
            <a:ext cx="284292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11;p1"/>
          <p:cNvSpPr/>
          <p:nvPr/>
        </p:nvSpPr>
        <p:spPr>
          <a:xfrm>
            <a:off x="812880" y="914400"/>
            <a:ext cx="106657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87" name="Google Shape;12;p1" descr=""/>
          <p:cNvPicPr/>
          <p:nvPr/>
        </p:nvPicPr>
        <p:blipFill>
          <a:blip r:embed="rId2"/>
          <a:srcRect l="0" t="0" r="0" b="18053"/>
          <a:stretch/>
        </p:blipFill>
        <p:spPr>
          <a:xfrm>
            <a:off x="0" y="5991480"/>
            <a:ext cx="12189960" cy="864360"/>
          </a:xfrm>
          <a:prstGeom prst="rect">
            <a:avLst/>
          </a:prstGeom>
          <a:ln w="0">
            <a:noFill/>
          </a:ln>
        </p:spPr>
      </p:pic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ftr" idx="7"/>
          </p:nvPr>
        </p:nvSpPr>
        <p:spPr>
          <a:xfrm>
            <a:off x="4165560" y="6356520"/>
            <a:ext cx="385848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8"/>
          </p:nvPr>
        </p:nvSpPr>
        <p:spPr>
          <a:xfrm>
            <a:off x="8737560" y="6356520"/>
            <a:ext cx="284292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8DB06C9-86DD-4913-87E0-4E4720BD7683}" type="slidenum">
              <a:rPr b="0" lang="en-GB" sz="120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dt" idx="9"/>
          </p:nvPr>
        </p:nvSpPr>
        <p:spPr>
          <a:xfrm>
            <a:off x="609480" y="6356520"/>
            <a:ext cx="284292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1;p1"/>
          <p:cNvSpPr/>
          <p:nvPr/>
        </p:nvSpPr>
        <p:spPr>
          <a:xfrm>
            <a:off x="812880" y="914400"/>
            <a:ext cx="106657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30" name="Google Shape;12;p1" descr=""/>
          <p:cNvPicPr/>
          <p:nvPr/>
        </p:nvPicPr>
        <p:blipFill>
          <a:blip r:embed="rId2"/>
          <a:srcRect l="0" t="0" r="0" b="18053"/>
          <a:stretch/>
        </p:blipFill>
        <p:spPr>
          <a:xfrm>
            <a:off x="0" y="5991480"/>
            <a:ext cx="12189960" cy="864360"/>
          </a:xfrm>
          <a:prstGeom prst="rect">
            <a:avLst/>
          </a:prstGeom>
          <a:ln w="0">
            <a:noFill/>
          </a:ln>
        </p:spPr>
      </p:pic>
      <p:sp>
        <p:nvSpPr>
          <p:cNvPr id="131" name="PlaceHolder 1"/>
          <p:cNvSpPr>
            <a:spLocks noGrp="1"/>
          </p:cNvSpPr>
          <p:nvPr>
            <p:ph type="ftr" idx="10"/>
          </p:nvPr>
        </p:nvSpPr>
        <p:spPr>
          <a:xfrm>
            <a:off x="4165560" y="6356520"/>
            <a:ext cx="385848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sldNum" idx="11"/>
          </p:nvPr>
        </p:nvSpPr>
        <p:spPr>
          <a:xfrm>
            <a:off x="8737560" y="6356520"/>
            <a:ext cx="284292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1AF41F5-320D-4776-884C-87EAC06CD648}" type="slidenum">
              <a:rPr b="0" lang="en-GB" sz="120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dt" idx="12"/>
          </p:nvPr>
        </p:nvSpPr>
        <p:spPr>
          <a:xfrm>
            <a:off x="609480" y="6356520"/>
            <a:ext cx="284292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2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hyperlink" Target="https://github.com/SumithKumar-4729/Multifactor-based-Geolocation-Attendance-System" TargetMode="External"/><Relationship Id="rId2" Type="http://schemas.openxmlformats.org/officeDocument/2006/relationships/slideLayout" Target="../slideLayouts/slideLayout3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281880" y="753840"/>
            <a:ext cx="11627640" cy="96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IN" sz="2800" spc="-1" strike="noStrike">
                <a:solidFill>
                  <a:srgbClr val="17365d"/>
                </a:solidFill>
                <a:latin typeface="Times new roman"/>
                <a:ea typeface="Verdana"/>
              </a:rPr>
              <a:t>CampusPulse: A WIFI BSSID Based GeoLocation Attendance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Google Shape;90;p13"/>
          <p:cNvSpPr/>
          <p:nvPr/>
        </p:nvSpPr>
        <p:spPr>
          <a:xfrm>
            <a:off x="6679440" y="2531880"/>
            <a:ext cx="5512320" cy="20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9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200" spc="-1" strike="noStrike">
                <a:solidFill>
                  <a:srgbClr val="17365d"/>
                </a:solidFill>
                <a:latin typeface="Times new roman"/>
                <a:ea typeface="Cambria"/>
              </a:rPr>
              <a:t>Under the Supervision of,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IN" sz="2200" spc="-1" strike="noStrike">
                <a:solidFill>
                  <a:srgbClr val="000000"/>
                </a:solidFill>
                <a:latin typeface="Times new roman"/>
                <a:ea typeface="Cambria"/>
              </a:rPr>
              <a:t>Dr. Asha Hegde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GB" sz="2200" spc="-1" strike="noStrike">
                <a:solidFill>
                  <a:srgbClr val="000000"/>
                </a:solidFill>
                <a:latin typeface="Times new roman"/>
                <a:ea typeface="Cambria"/>
              </a:rPr>
              <a:t>Assistant Professor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GB" sz="2200" spc="-1" strike="noStrike">
                <a:solidFill>
                  <a:srgbClr val="000000"/>
                </a:solidFill>
                <a:latin typeface="Times new roman"/>
                <a:ea typeface="Cambria"/>
              </a:rPr>
              <a:t>School of Computer Science and Engineering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GB" sz="2200" spc="-1" strike="noStrike">
                <a:solidFill>
                  <a:srgbClr val="000000"/>
                </a:solidFill>
                <a:latin typeface="Times new roman"/>
                <a:ea typeface="Cambria"/>
              </a:rPr>
              <a:t>Presidency University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IN" sz="2200" spc="-1" strike="noStrike">
              <a:latin typeface="Arial"/>
            </a:endParaRPr>
          </a:p>
        </p:txBody>
      </p:sp>
      <p:graphicFrame>
        <p:nvGraphicFramePr>
          <p:cNvPr id="174" name="Google Shape;89;p13"/>
          <p:cNvGraphicFramePr/>
          <p:nvPr/>
        </p:nvGraphicFramePr>
        <p:xfrm>
          <a:off x="412200" y="2636280"/>
          <a:ext cx="6067800" cy="1538640"/>
        </p:xfrm>
        <a:graphic>
          <a:graphicData uri="http://schemas.openxmlformats.org/drawingml/2006/table">
            <a:tbl>
              <a:tblPr/>
              <a:tblGrid>
                <a:gridCol w="2091240"/>
                <a:gridCol w="3976920"/>
              </a:tblGrid>
              <a:tr h="3477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GB" sz="1800" spc="-1" strike="noStrike">
                          <a:solidFill>
                            <a:srgbClr val="17365d"/>
                          </a:solidFill>
                          <a:latin typeface="Times new roman"/>
                          <a:ea typeface="Arial"/>
                        </a:rPr>
                        <a:t>Roll Number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GB" sz="1800" spc="-1" strike="noStrike">
                          <a:solidFill>
                            <a:srgbClr val="17365d"/>
                          </a:solidFill>
                          <a:latin typeface="Times new roman"/>
                          <a:ea typeface="Arial"/>
                        </a:rPr>
                        <a:t>Student Name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95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Arial"/>
                        </a:rPr>
                        <a:t>20221COM0152    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Arial"/>
                        </a:rPr>
                        <a:t>Hrishikesh Vivekanand Ghodke 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477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Arial"/>
                        </a:rPr>
                        <a:t>20221COM0185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Arial"/>
                        </a:rPr>
                        <a:t>Ravi Ranjan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477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Arial"/>
                        </a:rPr>
                        <a:t>20221COM0192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Arial"/>
                        </a:rPr>
                        <a:t>Sumith Kumar V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5" name="Google Shape;91;p13"/>
          <p:cNvSpPr/>
          <p:nvPr/>
        </p:nvSpPr>
        <p:spPr>
          <a:xfrm>
            <a:off x="2832120" y="136440"/>
            <a:ext cx="5496840" cy="72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800" spc="-1" strike="noStrike">
                <a:solidFill>
                  <a:srgbClr val="17365d"/>
                </a:solidFill>
                <a:latin typeface="Cambria"/>
                <a:ea typeface="Cambria"/>
              </a:rPr>
              <a:t>CSE7302- University Project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09"/>
              </a:spcBef>
              <a:buNone/>
              <a:tabLst>
                <a:tab algn="l" pos="0"/>
              </a:tabLst>
            </a:pPr>
            <a:r>
              <a:rPr b="1" lang="en-GB" sz="1800" spc="-1" strike="noStrike">
                <a:solidFill>
                  <a:srgbClr val="17365d"/>
                </a:solidFill>
                <a:latin typeface="Cambria"/>
                <a:ea typeface="Cambria"/>
              </a:rPr>
              <a:t>Review-5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6" name="Google Shape;91;p13"/>
          <p:cNvSpPr/>
          <p:nvPr/>
        </p:nvSpPr>
        <p:spPr>
          <a:xfrm>
            <a:off x="412200" y="4550760"/>
            <a:ext cx="12247920" cy="155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f81bd"/>
                </a:solidFill>
                <a:latin typeface="Cambria"/>
                <a:ea typeface="Cambria"/>
              </a:rPr>
              <a:t>Name of the Program: </a:t>
            </a:r>
            <a:r>
              <a:rPr b="1" lang="en-US" sz="1800" spc="-1" strike="noStrike">
                <a:solidFill>
                  <a:srgbClr val="000000"/>
                </a:solidFill>
                <a:latin typeface="Cambria"/>
                <a:ea typeface="Cambria"/>
              </a:rPr>
              <a:t>B.Tech(COM)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f81bd"/>
                </a:solidFill>
                <a:latin typeface="Cambria"/>
                <a:ea typeface="Cambria"/>
              </a:rPr>
              <a:t>Name of the HoD: </a:t>
            </a:r>
            <a:r>
              <a:rPr b="1" lang="en-US" sz="1800" spc="-1" strike="noStrike">
                <a:solidFill>
                  <a:srgbClr val="000000"/>
                </a:solidFill>
                <a:latin typeface="Cambria"/>
                <a:ea typeface="Cambria"/>
              </a:rPr>
              <a:t>Dr. Gopal Krishna Shyam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f81bd"/>
                </a:solidFill>
                <a:latin typeface="Cambria"/>
                <a:ea typeface="Cambria"/>
              </a:rPr>
              <a:t>Name of the Program Project Coordinator: </a:t>
            </a:r>
            <a:r>
              <a:rPr b="1" lang="en-US" sz="1800" spc="-1" strike="noStrike">
                <a:solidFill>
                  <a:srgbClr val="000000"/>
                </a:solidFill>
                <a:latin typeface="Cambria"/>
                <a:ea typeface="Cambria"/>
              </a:rPr>
              <a:t>Mrs Sumita Guddin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f81bd"/>
                </a:solidFill>
                <a:latin typeface="Cambria"/>
                <a:ea typeface="Cambria"/>
              </a:rPr>
              <a:t>Name of the School Project Coordinator: </a:t>
            </a:r>
            <a:r>
              <a:rPr b="1" lang="en-US" sz="1800" spc="-1" strike="noStrike">
                <a:solidFill>
                  <a:srgbClr val="000000"/>
                </a:solidFill>
                <a:latin typeface="Cambria"/>
                <a:ea typeface="Cambria"/>
              </a:rPr>
              <a:t>Dr. Sampath A K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7" name="Rectangle 133"/>
          <p:cNvSpPr/>
          <p:nvPr/>
        </p:nvSpPr>
        <p:spPr>
          <a:xfrm>
            <a:off x="360000" y="1980000"/>
            <a:ext cx="323820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200" spc="-1" strike="noStrike">
                <a:solidFill>
                  <a:srgbClr val="17365d"/>
                </a:solidFill>
                <a:latin typeface="Times new roman"/>
                <a:ea typeface="Cambria"/>
              </a:rPr>
              <a:t>Batch Number:</a:t>
            </a:r>
            <a:r>
              <a:rPr b="1" lang="en-US" sz="2200" spc="-1" strike="noStrike">
                <a:solidFill>
                  <a:srgbClr val="17365d"/>
                </a:solidFill>
                <a:latin typeface="Times new roman"/>
                <a:ea typeface="Cambria"/>
              </a:rPr>
              <a:t>COM_32</a:t>
            </a:r>
            <a:endParaRPr b="0" lang="en-IN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34"/>
          <p:cNvSpPr/>
          <p:nvPr/>
        </p:nvSpPr>
        <p:spPr>
          <a:xfrm>
            <a:off x="900000" y="235800"/>
            <a:ext cx="310464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3000" spc="-1" strike="noStrike">
                <a:solidFill>
                  <a:srgbClr val="0070c0"/>
                </a:solidFill>
                <a:latin typeface="Times New Roman"/>
                <a:ea typeface="Verdana"/>
              </a:rPr>
              <a:t>Abstract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179" name="Rectangle 135"/>
          <p:cNvSpPr/>
          <p:nvPr/>
        </p:nvSpPr>
        <p:spPr>
          <a:xfrm>
            <a:off x="360000" y="1035000"/>
            <a:ext cx="11339280" cy="41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Attendance management in educational institutions and corporate organizations requires accuracy, security, and scalability. Traditional methods such as manual roll calls, biometric devices, and GPS-based mobile systems are prone to proxy attendance, indoor inaccuracy, and location spoofing. To address these challenges, this project proposes a Geo-Location Based Attendance Marking System that combines Wi-Fi BSSID-based location verification, mock location detection, and device-level multi-factor authentication.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The system uses the Wi-Fi BSSID of connected access points to ensure accurate indoor and room-level presence validation, overcoming the limitations of GPS. Mock location detection prevents location spoofing, while user authentication is secured using device-provided biometrics with a PIN fallback, without storing biometric data. The solution includes an Android application for attendance marking, a web-based admin portal, and a FastAPI backend with PostgreSQL, secured using HTTPS and JWT authentication. The proposed system is secure, scalable, cost-effective, and suitable for real-world deployment in educational and corporate environments.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665720" cy="485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3000" spc="-1" strike="noStrike">
                <a:solidFill>
                  <a:srgbClr val="0070c0"/>
                </a:solidFill>
                <a:latin typeface="Times new roman"/>
                <a:ea typeface="Verdana"/>
              </a:rPr>
              <a:t>Objectives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812880" y="1143000"/>
            <a:ext cx="10665720" cy="495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IN" sz="2600" spc="-1" strike="noStrike">
                <a:solidFill>
                  <a:srgbClr val="000000"/>
                </a:solidFill>
                <a:latin typeface="Times new roman"/>
                <a:ea typeface="Verdana"/>
              </a:rPr>
              <a:t>• </a:t>
            </a:r>
            <a:r>
              <a:rPr b="0" lang="en-IN" sz="2600" spc="-1" strike="noStrike">
                <a:solidFill>
                  <a:srgbClr val="000000"/>
                </a:solidFill>
                <a:latin typeface="Times new roman"/>
                <a:ea typeface="Verdana"/>
              </a:rPr>
              <a:t>Algorithm Details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2600" spc="-1" strike="noStrike">
                <a:solidFill>
                  <a:srgbClr val="000000"/>
                </a:solidFill>
                <a:latin typeface="Times new roman"/>
                <a:ea typeface="Verdana"/>
              </a:rPr>
              <a:t>Results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665720" cy="485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3000" spc="-1" strike="noStrike">
                <a:solidFill>
                  <a:srgbClr val="0070c0"/>
                </a:solidFill>
                <a:latin typeface="Times New Roman"/>
                <a:ea typeface="Verdana"/>
              </a:rPr>
              <a:t>Problem Statement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586800" y="1104120"/>
            <a:ext cx="10665720" cy="392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57200" indent="-3808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  <a:ea typeface="Verdana"/>
              </a:rPr>
              <a:t>Traditional attendance systems suffer from proxy attendance, GPS spoofing, indoor inaccuracy, and high hardware costs. A secure, indoor-accurate, and hardware-independent attendance solution is required.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4"/>
          <p:cNvSpPr/>
          <p:nvPr/>
        </p:nvSpPr>
        <p:spPr>
          <a:xfrm>
            <a:off x="813240" y="274680"/>
            <a:ext cx="1066572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3000" spc="-1" strike="noStrike">
                <a:solidFill>
                  <a:srgbClr val="0070c0"/>
                </a:solidFill>
                <a:latin typeface="Times New Roman"/>
                <a:ea typeface="Verdana"/>
              </a:rPr>
              <a:t>Architecture Diagram</a:t>
            </a:r>
            <a:endParaRPr b="0" lang="en-IN" sz="3000" spc="-1" strike="noStrike">
              <a:latin typeface="Arial"/>
            </a:endParaRPr>
          </a:p>
        </p:txBody>
      </p:sp>
      <p:pic>
        <p:nvPicPr>
          <p:cNvPr id="185" name="Picture 160" descr=""/>
          <p:cNvPicPr/>
          <p:nvPr/>
        </p:nvPicPr>
        <p:blipFill>
          <a:blip r:embed="rId1"/>
          <a:stretch/>
        </p:blipFill>
        <p:spPr>
          <a:xfrm>
            <a:off x="5580000" y="900000"/>
            <a:ext cx="5579280" cy="5219280"/>
          </a:xfrm>
          <a:prstGeom prst="rect">
            <a:avLst/>
          </a:prstGeom>
          <a:ln w="0">
            <a:noFill/>
          </a:ln>
        </p:spPr>
      </p:pic>
      <p:pic>
        <p:nvPicPr>
          <p:cNvPr id="186" name="Picture 161" descr=""/>
          <p:cNvPicPr/>
          <p:nvPr/>
        </p:nvPicPr>
        <p:blipFill>
          <a:blip r:embed="rId2"/>
          <a:stretch/>
        </p:blipFill>
        <p:spPr>
          <a:xfrm>
            <a:off x="540000" y="1080000"/>
            <a:ext cx="5039280" cy="485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57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IN" sz="3000" spc="-1" strike="noStrike">
                <a:solidFill>
                  <a:srgbClr val="0070c0"/>
                </a:solidFill>
                <a:latin typeface="Times New Roman"/>
                <a:ea typeface="DejaVu Sans"/>
              </a:rPr>
              <a:t>main.py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subTitle"/>
          </p:nvPr>
        </p:nvSpPr>
        <p:spPr>
          <a:xfrm>
            <a:off x="609480" y="1181880"/>
            <a:ext cx="10972080" cy="43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Purpose: </a:t>
            </a:r>
            <a:endParaRPr b="0" lang="en-IN" sz="1800" spc="-1" strike="noStrike">
              <a:latin typeface="Arial"/>
            </a:endParaRPr>
          </a:p>
          <a:p>
            <a:pPr lvl="1" marL="971640" indent="-5144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Initialize FastAPI app</a:t>
            </a:r>
            <a:endParaRPr b="0" lang="en-IN" sz="1800" spc="-1" strike="noStrike">
              <a:latin typeface="Arial"/>
            </a:endParaRPr>
          </a:p>
          <a:p>
            <a:pPr lvl="1" marL="971640" indent="-5144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Register routers</a:t>
            </a:r>
            <a:endParaRPr b="0" lang="en-IN" sz="1800" spc="-1" strike="noStrike">
              <a:latin typeface="Arial"/>
            </a:endParaRPr>
          </a:p>
          <a:p>
            <a:pPr lvl="1" marL="971640" indent="-5144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Configure middleware / CORS</a:t>
            </a:r>
            <a:endParaRPr b="0" lang="en-IN" sz="1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Request handling algorithm (high‑level):</a:t>
            </a:r>
            <a:endParaRPr b="0" lang="en-IN" sz="1800" spc="-1" strike="noStrike">
              <a:latin typeface="Arial"/>
            </a:endParaRPr>
          </a:p>
          <a:p>
            <a:pPr lvl="1" marL="8002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Receive HTTP request</a:t>
            </a:r>
            <a:endParaRPr b="0" lang="en-IN" sz="1800" spc="-1" strike="noStrike">
              <a:latin typeface="Arial"/>
            </a:endParaRPr>
          </a:p>
          <a:p>
            <a:pPr lvl="1" marL="8002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Route to specific router based on path</a:t>
            </a:r>
            <a:endParaRPr b="0" lang="en-IN" sz="1800" spc="-1" strike="noStrike">
              <a:latin typeface="Arial"/>
            </a:endParaRPr>
          </a:p>
          <a:p>
            <a:pPr lvl="1" marL="8002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Run dependencies (DB session, auth, etc.)</a:t>
            </a:r>
            <a:endParaRPr b="0" lang="en-IN" sz="1800" spc="-1" strike="noStrike">
              <a:latin typeface="Arial"/>
            </a:endParaRPr>
          </a:p>
          <a:p>
            <a:pPr lvl="1" marL="8002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Execute endpoint logic</a:t>
            </a:r>
            <a:endParaRPr b="0" lang="en-IN" sz="1800" spc="-1" strike="noStrike">
              <a:latin typeface="Arial"/>
            </a:endParaRPr>
          </a:p>
          <a:p>
            <a:pPr lvl="1" marL="8002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Serialize response and return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61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IN" sz="3000" spc="-1" strike="noStrike">
                <a:solidFill>
                  <a:srgbClr val="0070c0"/>
                </a:solidFill>
                <a:latin typeface="Times New Roman"/>
                <a:ea typeface="DejaVu Sans"/>
              </a:rPr>
              <a:t>config.py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subTitle"/>
          </p:nvPr>
        </p:nvSpPr>
        <p:spPr>
          <a:xfrm>
            <a:off x="609480" y="119916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Purpose:</a:t>
            </a:r>
            <a:endParaRPr b="0" lang="en-IN" sz="1800" spc="-1" strike="noStrike">
              <a:latin typeface="Arial"/>
            </a:endParaRPr>
          </a:p>
          <a:p>
            <a:pPr lvl="1" marL="971640" indent="-5144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Load settings (DB URL, secrets, env config)</a:t>
            </a:r>
            <a:endParaRPr b="0" lang="en-IN" sz="1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Configuration loading algorithm:</a:t>
            </a:r>
            <a:endParaRPr b="0" lang="en-IN" sz="1800" spc="-1" strike="noStrike">
              <a:latin typeface="Arial"/>
            </a:endParaRPr>
          </a:p>
          <a:p>
            <a:pPr lvl="1" marL="971640" indent="-5144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Read environment variables / .env</a:t>
            </a:r>
            <a:endParaRPr b="0" lang="en-IN" sz="1800" spc="-1" strike="noStrike">
              <a:latin typeface="Arial"/>
            </a:endParaRPr>
          </a:p>
          <a:p>
            <a:pPr lvl="1" marL="971640" indent="-5144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Validate required keys</a:t>
            </a:r>
            <a:endParaRPr b="0" lang="en-IN" sz="1800" spc="-1" strike="noStrike">
              <a:latin typeface="Arial"/>
            </a:endParaRPr>
          </a:p>
          <a:p>
            <a:pPr lvl="1" marL="971640" indent="-5144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Build config object</a:t>
            </a:r>
            <a:endParaRPr b="0" lang="en-IN" sz="1800" spc="-1" strike="noStrike">
              <a:latin typeface="Arial"/>
            </a:endParaRPr>
          </a:p>
          <a:p>
            <a:pPr lvl="1" marL="971640" indent="-5144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Expose config to rest of app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59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IN" sz="3000" spc="-1" strike="noStrike">
                <a:solidFill>
                  <a:srgbClr val="0070c0"/>
                </a:solidFill>
                <a:latin typeface="Times New Roman"/>
                <a:ea typeface="DejaVu Sans"/>
              </a:rPr>
              <a:t>database.p</a:t>
            </a:r>
            <a:r>
              <a:rPr b="1" lang="en-IN" sz="3000" spc="-1" strike="noStrike">
                <a:solidFill>
                  <a:srgbClr val="0070c0"/>
                </a:solidFill>
                <a:latin typeface="Times New Roman"/>
                <a:ea typeface="DejaVu Sans"/>
              </a:rPr>
              <a:t>y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subTitle"/>
          </p:nvPr>
        </p:nvSpPr>
        <p:spPr>
          <a:xfrm>
            <a:off x="609480" y="1043640"/>
            <a:ext cx="10972080" cy="453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Purpose:</a:t>
            </a:r>
            <a:endParaRPr b="0" lang="en-IN" sz="1800" spc="-1" strike="noStrike">
              <a:latin typeface="Arial"/>
            </a:endParaRPr>
          </a:p>
          <a:p>
            <a:pPr lvl="1" marL="971640" indent="-5144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Create engine and session factory</a:t>
            </a:r>
            <a:endParaRPr b="0" lang="en-IN" sz="1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DB session lifecycle algorithm:</a:t>
            </a:r>
            <a:endParaRPr b="0" lang="en-IN" sz="1800" spc="-1" strike="noStrike">
              <a:latin typeface="Arial"/>
            </a:endParaRPr>
          </a:p>
          <a:p>
            <a:pPr lvl="1" marL="971640" indent="-5144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Build DB engine from config</a:t>
            </a:r>
            <a:endParaRPr b="0" lang="en-IN" sz="1800" spc="-1" strike="noStrike">
              <a:latin typeface="Arial"/>
            </a:endParaRPr>
          </a:p>
          <a:p>
            <a:pPr lvl="1" marL="971640" indent="-5144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On request, create Session</a:t>
            </a:r>
            <a:endParaRPr b="0" lang="en-IN" sz="1800" spc="-1" strike="noStrike">
              <a:latin typeface="Arial"/>
            </a:endParaRPr>
          </a:p>
          <a:p>
            <a:pPr lvl="1" marL="971640" indent="-5144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Pass Session into endpoint via dependency</a:t>
            </a:r>
            <a:endParaRPr b="0" lang="en-IN" sz="1800" spc="-1" strike="noStrike">
              <a:latin typeface="Arial"/>
            </a:endParaRPr>
          </a:p>
          <a:p>
            <a:pPr lvl="1" marL="971640" indent="-5144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Commit / rollback on success/failure</a:t>
            </a:r>
            <a:endParaRPr b="0" lang="en-IN" sz="1800" spc="-1" strike="noStrike">
              <a:latin typeface="Arial"/>
            </a:endParaRPr>
          </a:p>
          <a:p>
            <a:pPr lvl="1" marL="971640" indent="-5144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Close session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57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IN" sz="3000" spc="-1" strike="noStrike">
                <a:solidFill>
                  <a:srgbClr val="0070c0"/>
                </a:solidFill>
                <a:latin typeface="Times New Roman"/>
                <a:ea typeface="DejaVu Sans"/>
              </a:rPr>
              <a:t>models.py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subTitle"/>
          </p:nvPr>
        </p:nvSpPr>
        <p:spPr>
          <a:xfrm>
            <a:off x="609480" y="1155960"/>
            <a:ext cx="10972080" cy="442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Purpose:</a:t>
            </a:r>
            <a:endParaRPr b="0" lang="en-IN" sz="1800" spc="-1" strike="noStrike">
              <a:latin typeface="Arial"/>
            </a:endParaRPr>
          </a:p>
          <a:p>
            <a:pPr lvl="1" marL="8002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Define ORM models (User, Classroom, Attendance, Wifi, etc.)</a:t>
            </a:r>
            <a:endParaRPr b="0" lang="en-IN" sz="1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Model mapping algorithm:</a:t>
            </a:r>
            <a:endParaRPr b="0" lang="en-IN" sz="1800" spc="-1" strike="noStrike">
              <a:latin typeface="Arial"/>
            </a:endParaRPr>
          </a:p>
          <a:p>
            <a:pPr lvl="1" marL="8002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Map Python classes → DB tables (columns, PK/FK)</a:t>
            </a:r>
            <a:endParaRPr b="0" lang="en-IN" sz="1800" spc="-1" strike="noStrike">
              <a:latin typeface="Arial"/>
            </a:endParaRPr>
          </a:p>
          <a:p>
            <a:pPr lvl="1" marL="8002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Relate entities (User–Attendance, Classroom–Attendance, etc.)</a:t>
            </a:r>
            <a:endParaRPr b="0" lang="en-IN" sz="1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Lifecycle:</a:t>
            </a:r>
            <a:endParaRPr b="0" lang="en-IN" sz="1800" spc="-1" strike="noStrike">
              <a:latin typeface="Arial"/>
            </a:endParaRPr>
          </a:p>
          <a:p>
            <a:pPr lvl="1" marL="8002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Create model instance</a:t>
            </a:r>
            <a:endParaRPr b="0" lang="en-IN" sz="1800" spc="-1" strike="noStrike">
              <a:latin typeface="Arial"/>
            </a:endParaRPr>
          </a:p>
          <a:p>
            <a:pPr lvl="1" marL="8002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Add to session</a:t>
            </a:r>
            <a:endParaRPr b="0" lang="en-IN" sz="1800" spc="-1" strike="noStrike">
              <a:latin typeface="Arial"/>
            </a:endParaRPr>
          </a:p>
          <a:p>
            <a:pPr lvl="1" marL="8002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Commit → row in DB</a:t>
            </a:r>
            <a:endParaRPr b="0" lang="en-IN" sz="1800" spc="-1" strike="noStrike">
              <a:latin typeface="Arial"/>
            </a:endParaRPr>
          </a:p>
          <a:p>
            <a:pPr lvl="1" marL="8002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Query → model instances returned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62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IN" sz="3000" spc="-1" strike="noStrike">
                <a:solidFill>
                  <a:srgbClr val="0070c0"/>
                </a:solidFill>
                <a:latin typeface="Times New Roman"/>
                <a:ea typeface="DejaVu Sans"/>
              </a:rPr>
              <a:t>schemas.py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subTitle"/>
          </p:nvPr>
        </p:nvSpPr>
        <p:spPr>
          <a:xfrm>
            <a:off x="609480" y="1069560"/>
            <a:ext cx="10972080" cy="5253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Purpose:</a:t>
            </a:r>
            <a:endParaRPr b="0" lang="en-IN" sz="1800" spc="-1" strike="noStrike">
              <a:latin typeface="Arial"/>
            </a:endParaRPr>
          </a:p>
          <a:p>
            <a:pPr lvl="1" marL="8002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Acts as digital forms for User, Classroom, WiFi, and Attendance data</a:t>
            </a:r>
            <a:endParaRPr b="0" lang="en-IN" sz="1800" spc="-1" strike="noStrike">
              <a:latin typeface="Arial"/>
            </a:endParaRPr>
          </a:p>
          <a:p>
            <a:pPr lvl="1" marL="8002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Checks that information coming from the app is reasonable</a:t>
            </a:r>
            <a:endParaRPr b="0" lang="en-IN" sz="1800" spc="-1" strike="noStrike">
              <a:latin typeface="Arial"/>
            </a:endParaRPr>
          </a:p>
          <a:p>
            <a:pPr lvl="1" marL="8002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Controls what information is sent back (hides sensitive data like passwords)</a:t>
            </a:r>
            <a:endParaRPr b="0" lang="en-IN" sz="1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Algorithm:</a:t>
            </a:r>
            <a:endParaRPr b="0" lang="en-IN" sz="18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App sends data to the backend</a:t>
            </a:r>
            <a:endParaRPr b="0" lang="en-IN" sz="18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Match it to the correct form (user, classroom, WiFi, attendance)</a:t>
            </a:r>
            <a:endParaRPr b="0" lang="en-IN" sz="18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For each field, check:</a:t>
            </a:r>
            <a:endParaRPr b="0" lang="en-IN" sz="1800" spc="-1" strike="noStrike">
              <a:latin typeface="Arial"/>
            </a:endParaRPr>
          </a:p>
          <a:p>
            <a:pPr lvl="2" marL="12574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Is it present when required?</a:t>
            </a:r>
            <a:endParaRPr b="0" lang="en-IN" sz="1800" spc="-1" strike="noStrike">
              <a:latin typeface="Arial"/>
            </a:endParaRPr>
          </a:p>
          <a:p>
            <a:pPr lvl="2" marL="12574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Is text not too short/long?</a:t>
            </a:r>
            <a:endParaRPr b="0" lang="en-IN" sz="1800" spc="-1" strike="noStrike">
              <a:latin typeface="Arial"/>
            </a:endParaRPr>
          </a:p>
          <a:p>
            <a:pPr lvl="2" marL="12574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Are numbers positive?</a:t>
            </a:r>
            <a:endParaRPr b="0" lang="en-IN" sz="1800" spc="-1" strike="noStrike">
              <a:latin typeface="Arial"/>
            </a:endParaRPr>
          </a:p>
          <a:p>
            <a:pPr lvl="2" marL="12574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Are time and date fields in a valid format?</a:t>
            </a:r>
            <a:endParaRPr b="0" lang="en-IN" sz="18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If something is wrong → return a clear error message</a:t>
            </a:r>
            <a:endParaRPr b="0" lang="en-IN" sz="18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If everything is fine → pass clean data to the database logic and send back only safe fields in a tidy format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60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IN" sz="3000" spc="-1" strike="noStrike">
                <a:solidFill>
                  <a:srgbClr val="0070c0"/>
                </a:solidFill>
                <a:latin typeface="Times New Roman"/>
                <a:ea typeface="DejaVu Sans"/>
              </a:rPr>
              <a:t>users.py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subTitle"/>
          </p:nvPr>
        </p:nvSpPr>
        <p:spPr>
          <a:xfrm>
            <a:off x="609480" y="1069560"/>
            <a:ext cx="10207800" cy="4692240"/>
          </a:xfrm>
          <a:prstGeom prst="rect">
            <a:avLst/>
          </a:prstGeom>
          <a:noFill/>
          <a:ln w="0">
            <a:noFill/>
          </a:ln>
        </p:spPr>
        <p:txBody>
          <a:bodyPr numCol="2" spcCol="0" lIns="0" rIns="0" tIns="0" bIns="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Purpose:</a:t>
            </a:r>
            <a:endParaRPr b="0" lang="en-IN" sz="1800" spc="-1" strike="noStrike">
              <a:latin typeface="Arial"/>
            </a:endParaRPr>
          </a:p>
          <a:p>
            <a:pPr lvl="1" marL="971640" indent="-5144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CRUD users, login, profile, etc.</a:t>
            </a:r>
            <a:endParaRPr b="0" lang="en-IN" sz="1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Key endpoints:</a:t>
            </a:r>
            <a:endParaRPr b="0" lang="en-IN" sz="18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Register user</a:t>
            </a:r>
            <a:endParaRPr b="0" lang="en-IN" sz="18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Login</a:t>
            </a:r>
            <a:endParaRPr b="0" lang="en-IN" sz="18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Get current user</a:t>
            </a:r>
            <a:endParaRPr b="0" lang="en-IN" sz="1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(example algorithm: Register user):</a:t>
            </a:r>
            <a:endParaRPr b="0" lang="en-IN" sz="1800" spc="-1" strike="noStrike">
              <a:latin typeface="Arial"/>
            </a:endParaRPr>
          </a:p>
          <a:p>
            <a:pPr lvl="1" marL="8002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Receive registration data schema</a:t>
            </a:r>
            <a:endParaRPr b="0" lang="en-IN" sz="1800" spc="-1" strike="noStrike">
              <a:latin typeface="Arial"/>
            </a:endParaRPr>
          </a:p>
          <a:p>
            <a:pPr lvl="1" marL="8002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Validate (email uniqueness, password rules)</a:t>
            </a:r>
            <a:endParaRPr b="0" lang="en-IN" sz="1800" spc="-1" strike="noStrike">
              <a:latin typeface="Arial"/>
            </a:endParaRPr>
          </a:p>
          <a:p>
            <a:pPr lvl="1" marL="8002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Hash password</a:t>
            </a:r>
            <a:endParaRPr b="0" lang="en-IN" sz="1800" spc="-1" strike="noStrike">
              <a:latin typeface="Arial"/>
            </a:endParaRPr>
          </a:p>
          <a:p>
            <a:pPr lvl="1" marL="8002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Create User model</a:t>
            </a:r>
            <a:endParaRPr b="0" lang="en-IN" sz="1800" spc="-1" strike="noStrike">
              <a:latin typeface="Arial"/>
            </a:endParaRPr>
          </a:p>
          <a:p>
            <a:pPr lvl="1" marL="8002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Persist to DB</a:t>
            </a:r>
            <a:endParaRPr b="0" lang="en-IN" sz="1800" spc="-1" strike="noStrike">
              <a:latin typeface="Arial"/>
            </a:endParaRPr>
          </a:p>
          <a:p>
            <a:pPr lvl="1" marL="8002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Return user schema (without password)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1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(example algorithm: Login):</a:t>
            </a:r>
            <a:endParaRPr b="0" lang="en-IN" sz="1800" spc="-1" strike="noStrike">
              <a:latin typeface="Arial"/>
            </a:endParaRPr>
          </a:p>
          <a:p>
            <a:pPr lvl="1" marL="8002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Receive credentials</a:t>
            </a:r>
            <a:endParaRPr b="0" lang="en-IN" sz="1800" spc="-1" strike="noStrike">
              <a:latin typeface="Arial"/>
            </a:endParaRPr>
          </a:p>
          <a:p>
            <a:pPr lvl="1" marL="8002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Find user in DB</a:t>
            </a:r>
            <a:endParaRPr b="0" lang="en-IN" sz="1800" spc="-1" strike="noStrike">
              <a:latin typeface="Arial"/>
            </a:endParaRPr>
          </a:p>
          <a:p>
            <a:pPr lvl="1" marL="8002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Verify password hash</a:t>
            </a:r>
            <a:endParaRPr b="0" lang="en-IN" sz="1800" spc="-1" strike="noStrike">
              <a:latin typeface="Arial"/>
            </a:endParaRPr>
          </a:p>
          <a:p>
            <a:pPr lvl="1" marL="8002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If OK, generate token</a:t>
            </a:r>
            <a:endParaRPr b="0" lang="en-IN" sz="1800" spc="-1" strike="noStrike">
              <a:latin typeface="Arial"/>
            </a:endParaRPr>
          </a:p>
          <a:p>
            <a:pPr lvl="1" marL="8002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Return token + user info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57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IN" sz="3000" spc="-1" strike="noStrike">
                <a:solidFill>
                  <a:srgbClr val="0070c0"/>
                </a:solidFill>
                <a:latin typeface="Times New Roman"/>
                <a:ea typeface="DejaVu Sans"/>
              </a:rPr>
              <a:t>classrooms.py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subTitle"/>
          </p:nvPr>
        </p:nvSpPr>
        <p:spPr>
          <a:xfrm>
            <a:off x="609480" y="1121400"/>
            <a:ext cx="10972080" cy="41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Purpose:</a:t>
            </a:r>
            <a:endParaRPr b="0" lang="en-IN" sz="1800" spc="-1" strike="noStrike">
              <a:latin typeface="Arial"/>
            </a:endParaRPr>
          </a:p>
          <a:p>
            <a:pPr lvl="1" marL="971640" indent="-5144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Manage classrooms and their geo boundaries</a:t>
            </a:r>
            <a:endParaRPr b="0" lang="en-IN" sz="1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Key algorithms (one bullet per endpoint):</a:t>
            </a:r>
            <a:endParaRPr b="0" lang="en-IN" sz="18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Create/update classroom:</a:t>
            </a:r>
            <a:endParaRPr b="0" lang="en-IN" sz="1800" spc="-1" strike="noStrike">
              <a:latin typeface="Arial"/>
            </a:endParaRPr>
          </a:p>
          <a:p>
            <a:pPr lvl="2" marL="1371600" indent="-4572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Receive classroom data (name, coordinates/zone)</a:t>
            </a:r>
            <a:endParaRPr b="0" lang="en-IN" sz="1800" spc="-1" strike="noStrike">
              <a:latin typeface="Arial"/>
            </a:endParaRPr>
          </a:p>
          <a:p>
            <a:pPr lvl="2" marL="1371600" indent="-4572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Validate coordinates / format</a:t>
            </a:r>
            <a:endParaRPr b="0" lang="en-IN" sz="1800" spc="-1" strike="noStrike">
              <a:latin typeface="Arial"/>
            </a:endParaRPr>
          </a:p>
          <a:p>
            <a:pPr lvl="2" marL="1371600" indent="-4572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Save to DB</a:t>
            </a:r>
            <a:endParaRPr b="0" lang="en-IN" sz="18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List classrooms:</a:t>
            </a:r>
            <a:endParaRPr b="0" lang="en-IN" sz="1800" spc="-1" strike="noStrike">
              <a:latin typeface="Arial"/>
            </a:endParaRPr>
          </a:p>
          <a:p>
            <a:pPr lvl="2" marL="1371600" indent="-4572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Query DB</a:t>
            </a:r>
            <a:endParaRPr b="0" lang="en-IN" sz="1800" spc="-1" strike="noStrike">
              <a:latin typeface="Arial"/>
            </a:endParaRPr>
          </a:p>
          <a:p>
            <a:pPr lvl="2" marL="1371600" indent="-4572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Filter by teacher/user if needed</a:t>
            </a:r>
            <a:endParaRPr b="0" lang="en-IN" sz="1800" spc="-1" strike="noStrike">
              <a:latin typeface="Arial"/>
            </a:endParaRPr>
          </a:p>
          <a:p>
            <a:pPr lvl="2" marL="1371600" indent="-4572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Return list schema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56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IN" sz="3000" spc="-1" strike="noStrike">
                <a:solidFill>
                  <a:srgbClr val="0070c0"/>
                </a:solidFill>
                <a:latin typeface="Times New Roman"/>
                <a:ea typeface="DejaVu Sans"/>
              </a:rPr>
              <a:t>attendance.py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subTitle"/>
          </p:nvPr>
        </p:nvSpPr>
        <p:spPr>
          <a:xfrm>
            <a:off x="609480" y="1086840"/>
            <a:ext cx="10972080" cy="5175360"/>
          </a:xfrm>
          <a:prstGeom prst="rect">
            <a:avLst/>
          </a:prstGeom>
          <a:noFill/>
          <a:ln w="0">
            <a:noFill/>
          </a:ln>
        </p:spPr>
        <p:txBody>
          <a:bodyPr numCol="2" spcCol="0" lIns="0" rIns="0" tIns="0" bIns="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Purpose:</a:t>
            </a:r>
            <a:endParaRPr b="0" lang="en-IN" sz="1800" spc="-1" strike="noStrike">
              <a:latin typeface="Arial"/>
            </a:endParaRPr>
          </a:p>
          <a:p>
            <a:pPr lvl="1" marL="971640" indent="-5144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Mark/check attendance based on geo (and possibly Wi‑Fi)</a:t>
            </a:r>
            <a:endParaRPr b="0" lang="en-IN" sz="1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Typical endpoints:</a:t>
            </a:r>
            <a:endParaRPr b="0" lang="en-IN" sz="1800" spc="-1" strike="noStrike">
              <a:latin typeface="Arial"/>
            </a:endParaRPr>
          </a:p>
          <a:p>
            <a:pPr lvl="1" marL="971640" indent="-5144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Mark attendance</a:t>
            </a:r>
            <a:endParaRPr b="0" lang="en-IN" sz="1800" spc="-1" strike="noStrike">
              <a:latin typeface="Arial"/>
            </a:endParaRPr>
          </a:p>
          <a:p>
            <a:pPr lvl="1" marL="971640" indent="-5144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Get attendance for user/classroom/date</a:t>
            </a:r>
            <a:endParaRPr b="0" lang="en-IN" sz="1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(Get attendance algorithm):</a:t>
            </a:r>
            <a:endParaRPr b="0" lang="en-IN" sz="1800" spc="-1" strike="noStrike">
              <a:latin typeface="Arial"/>
            </a:endParaRPr>
          </a:p>
          <a:p>
            <a:pPr lvl="1" marL="914400" indent="-4572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Authenticate requester (teacher/admin)</a:t>
            </a:r>
            <a:endParaRPr b="0" lang="en-IN" sz="1800" spc="-1" strike="noStrike">
              <a:latin typeface="Arial"/>
            </a:endParaRPr>
          </a:p>
          <a:p>
            <a:pPr lvl="1" marL="914400" indent="-4572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Read filters (classroom, date, user)</a:t>
            </a:r>
            <a:endParaRPr b="0" lang="en-IN" sz="1800" spc="-1" strike="noStrike">
              <a:latin typeface="Arial"/>
            </a:endParaRPr>
          </a:p>
          <a:p>
            <a:pPr lvl="1" marL="914400" indent="-4572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Build DB query with filters</a:t>
            </a:r>
            <a:endParaRPr b="0" lang="en-IN" sz="1800" spc="-1" strike="noStrike">
              <a:latin typeface="Arial"/>
            </a:endParaRPr>
          </a:p>
          <a:p>
            <a:pPr lvl="1" marL="914400" indent="-4572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Execute query</a:t>
            </a:r>
            <a:endParaRPr b="0" lang="en-IN" sz="1800" spc="-1" strike="noStrike">
              <a:latin typeface="Arial"/>
            </a:endParaRPr>
          </a:p>
          <a:p>
            <a:pPr lvl="1" marL="914400" indent="-4572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Map results to response schemas</a:t>
            </a:r>
            <a:endParaRPr b="0" lang="en-IN" sz="1800" spc="-1" strike="noStrike">
              <a:latin typeface="Arial"/>
            </a:endParaRPr>
          </a:p>
          <a:p>
            <a:pPr lvl="1" marL="914400" indent="-4572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Return list of attendance records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1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(Mark attendance algorithm):</a:t>
            </a:r>
            <a:endParaRPr b="0" lang="en-IN" sz="18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Authenticate user (via security dependency)</a:t>
            </a:r>
            <a:endParaRPr b="0" lang="en-IN" sz="18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Receive location/Wi‑Fi info and classroom reference</a:t>
            </a:r>
            <a:endParaRPr b="0" lang="en-IN" sz="18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Start DB session</a:t>
            </a:r>
            <a:endParaRPr b="0" lang="en-IN" sz="18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Validate:</a:t>
            </a:r>
            <a:endParaRPr b="0" lang="en-IN" sz="1800" spc="-1" strike="noStrike">
              <a:latin typeface="Arial"/>
            </a:endParaRPr>
          </a:p>
          <a:p>
            <a:pPr lvl="2" marL="12574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Time window (within allowed schedule)</a:t>
            </a:r>
            <a:endParaRPr b="0" lang="en-IN" sz="1800" spc="-1" strike="noStrike">
              <a:latin typeface="Arial"/>
            </a:endParaRPr>
          </a:p>
          <a:p>
            <a:pPr lvl="2" marL="12574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Position/Wi‑Fi corresponds to classroom</a:t>
            </a:r>
            <a:endParaRPr b="0" lang="en-IN" sz="18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If valid:</a:t>
            </a:r>
            <a:endParaRPr b="0" lang="en-IN" sz="1800" spc="-1" strike="noStrike">
              <a:latin typeface="Arial"/>
            </a:endParaRPr>
          </a:p>
          <a:p>
            <a:pPr lvl="2" marL="12574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Create Attendance record (user, classroom, timestamp, method)</a:t>
            </a:r>
            <a:endParaRPr b="0" lang="en-IN" sz="1800" spc="-1" strike="noStrike">
              <a:latin typeface="Arial"/>
            </a:endParaRPr>
          </a:p>
          <a:p>
            <a:pPr lvl="2" marL="12574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Commit</a:t>
            </a:r>
            <a:endParaRPr b="0" lang="en-IN" sz="18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Return success + attendance details</a:t>
            </a:r>
            <a:endParaRPr b="0" lang="en-IN" sz="18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If invalid: return error describing reason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IN" sz="3000" spc="-1" strike="noStrike">
                <a:solidFill>
                  <a:srgbClr val="0070c0"/>
                </a:solidFill>
                <a:latin typeface="Times New Roman"/>
                <a:ea typeface="DejaVu Sans"/>
              </a:rPr>
              <a:t>wifi.py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subTitle"/>
          </p:nvPr>
        </p:nvSpPr>
        <p:spPr>
          <a:xfrm>
            <a:off x="609480" y="1112760"/>
            <a:ext cx="10972080" cy="446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Purpose:</a:t>
            </a:r>
            <a:endParaRPr b="0" lang="en-IN" sz="1800" spc="-1" strike="noStrike">
              <a:latin typeface="Arial"/>
            </a:endParaRPr>
          </a:p>
          <a:p>
            <a:pPr lvl="1" marL="971640" indent="-5144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Use Wi‑Fi BSSIDs/SSIDs to infer classroom/location</a:t>
            </a:r>
            <a:endParaRPr b="0" lang="en-IN" sz="1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Wi‑Fi matching algorithm (typical):</a:t>
            </a:r>
            <a:endParaRPr b="0" lang="en-IN" sz="1800" spc="-1" strike="noStrike">
              <a:latin typeface="Arial"/>
            </a:endParaRPr>
          </a:p>
          <a:p>
            <a:pPr lvl="1" marL="971640" indent="-5144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Receive list of observed access points (BSSID, RSSI)</a:t>
            </a:r>
            <a:endParaRPr b="0" lang="en-IN" sz="1800" spc="-1" strike="noStrike">
              <a:latin typeface="Arial"/>
            </a:endParaRPr>
          </a:p>
          <a:p>
            <a:pPr lvl="1" marL="971640" indent="-5144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Compare with stored classroom Wi‑Fi signatures</a:t>
            </a:r>
            <a:endParaRPr b="0" lang="en-IN" sz="1800" spc="-1" strike="noStrike">
              <a:latin typeface="Arial"/>
            </a:endParaRPr>
          </a:p>
          <a:p>
            <a:pPr lvl="1" marL="971640" indent="-5144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Compute similarity score (e.g. count of matching BSSIDs)</a:t>
            </a:r>
            <a:endParaRPr b="0" lang="en-IN" sz="1800" spc="-1" strike="noStrike">
              <a:latin typeface="Arial"/>
            </a:endParaRPr>
          </a:p>
          <a:p>
            <a:pPr lvl="1" marL="971640" indent="-5144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Pick best matching classroom above threshold</a:t>
            </a:r>
            <a:endParaRPr b="0" lang="en-IN" sz="1800" spc="-1" strike="noStrike">
              <a:latin typeface="Arial"/>
            </a:endParaRPr>
          </a:p>
          <a:p>
            <a:pPr lvl="1" marL="971640" indent="-5144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Return inferred classroom or error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IN" sz="3000" spc="-1" strike="noStrike">
                <a:solidFill>
                  <a:srgbClr val="0070c0"/>
                </a:solidFill>
                <a:latin typeface="Times New Roman"/>
                <a:ea typeface="DejaVu Sans"/>
              </a:rPr>
              <a:t>Results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6" name="" descr=""/>
          <p:cNvPicPr/>
          <p:nvPr/>
        </p:nvPicPr>
        <p:blipFill>
          <a:blip r:embed="rId1"/>
          <a:stretch/>
        </p:blipFill>
        <p:spPr>
          <a:xfrm rot="46800">
            <a:off x="160560" y="1110600"/>
            <a:ext cx="5005080" cy="2814840"/>
          </a:xfrm>
          <a:prstGeom prst="rect">
            <a:avLst/>
          </a:prstGeom>
          <a:ln w="0">
            <a:noFill/>
          </a:ln>
        </p:spPr>
      </p:pic>
      <p:pic>
        <p:nvPicPr>
          <p:cNvPr id="207" name="" descr=""/>
          <p:cNvPicPr/>
          <p:nvPr/>
        </p:nvPicPr>
        <p:blipFill>
          <a:blip r:embed="rId2"/>
          <a:stretch/>
        </p:blipFill>
        <p:spPr>
          <a:xfrm>
            <a:off x="5580000" y="1153080"/>
            <a:ext cx="5760000" cy="2986920"/>
          </a:xfrm>
          <a:prstGeom prst="rect">
            <a:avLst/>
          </a:prstGeom>
          <a:ln w="0">
            <a:noFill/>
          </a:ln>
        </p:spPr>
      </p:pic>
      <p:pic>
        <p:nvPicPr>
          <p:cNvPr id="208" name="" descr=""/>
          <p:cNvPicPr/>
          <p:nvPr/>
        </p:nvPicPr>
        <p:blipFill>
          <a:blip r:embed="rId3"/>
          <a:stretch/>
        </p:blipFill>
        <p:spPr>
          <a:xfrm>
            <a:off x="3060000" y="4140000"/>
            <a:ext cx="4320000" cy="2110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164"/>
          <p:cNvSpPr/>
          <p:nvPr/>
        </p:nvSpPr>
        <p:spPr>
          <a:xfrm>
            <a:off x="720000" y="360000"/>
            <a:ext cx="737892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3000" spc="-1" strike="noStrike">
                <a:solidFill>
                  <a:srgbClr val="0070c0"/>
                </a:solidFill>
                <a:latin typeface="Times new roman"/>
                <a:ea typeface="Verdana"/>
              </a:rPr>
              <a:t>Git Hub Link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210" name="Rectangle 165"/>
          <p:cNvSpPr/>
          <p:nvPr/>
        </p:nvSpPr>
        <p:spPr>
          <a:xfrm>
            <a:off x="2160000" y="2216520"/>
            <a:ext cx="701892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2400" spc="-1" strike="noStrike" u="sng">
                <a:solidFill>
                  <a:srgbClr val="0000ff"/>
                </a:solidFill>
                <a:uFillTx/>
                <a:latin typeface="Times New Roman"/>
                <a:ea typeface="DejaVu Sans"/>
                <a:hlinkClick r:id="rId1"/>
              </a:rPr>
              <a:t>CampusPulse: A WIFI BSSID Based GeoLocation Attendance 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11" name="Rectangle 166"/>
          <p:cNvSpPr/>
          <p:nvPr/>
        </p:nvSpPr>
        <p:spPr>
          <a:xfrm>
            <a:off x="900000" y="2160000"/>
            <a:ext cx="179892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LINK:</a:t>
            </a:r>
            <a:endParaRPr b="0" lang="en-IN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Picture 4" descr=""/>
          <p:cNvPicPr/>
          <p:nvPr/>
        </p:nvPicPr>
        <p:blipFill>
          <a:blip r:embed="rId1"/>
          <a:stretch/>
        </p:blipFill>
        <p:spPr>
          <a:xfrm>
            <a:off x="4082760" y="1441440"/>
            <a:ext cx="3891240" cy="3933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675</TotalTime>
  <Application>LibreOffice/7.3.7.2$Linux_X86_64 LibreOffice_project/30$Build-2</Application>
  <AppVersion>15.0000</AppVersion>
  <Words>992</Words>
  <Paragraphs>159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2025-08-20T03:51:44Z</dcterms:created>
  <dc:creator>Admin</dc:creator>
  <dc:description/>
  <dc:language>en-IN</dc:language>
  <cp:lastModifiedBy/>
  <dcterms:modified xsi:type="dcterms:W3CDTF">2026-04-25T12:30:19Z</dcterms:modified>
  <cp:revision>66</cp:revision>
  <dc:subject/>
  <dc:title>PROJECT TITLE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E6A35B7518FE4A5A924F8357D5CE77D3_12</vt:lpwstr>
  </property>
  <property fmtid="{D5CDD505-2E9C-101B-9397-08002B2CF9AE}" pid="3" name="KSOProductBuildVer">
    <vt:lpwstr>1033-12.2.0.21931</vt:lpwstr>
  </property>
  <property fmtid="{D5CDD505-2E9C-101B-9397-08002B2CF9AE}" pid="4" name="Notes">
    <vt:i4>11</vt:i4>
  </property>
  <property fmtid="{D5CDD505-2E9C-101B-9397-08002B2CF9AE}" pid="5" name="PresentationFormat">
    <vt:lpwstr>Widescreen</vt:lpwstr>
  </property>
  <property fmtid="{D5CDD505-2E9C-101B-9397-08002B2CF9AE}" pid="6" name="Slides">
    <vt:i4>16</vt:i4>
  </property>
</Properties>
</file>