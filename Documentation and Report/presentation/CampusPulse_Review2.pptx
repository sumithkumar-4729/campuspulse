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7C0D8E-8FEB-497E-81F7-168D578ADD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2A39E5-72E3-44A8-95D6-3512AD9B76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9F919D-DBD8-4F6E-895C-BD012E11B2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59E63A-5F1E-4744-BBD7-900BEB34F9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194914-B4DD-4196-AFD2-53555D4057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45CA95-E231-4C64-B541-8FE4074BB9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C3ABFB-E779-4DC8-BED9-F0476A8558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C4510A-FA33-4334-BCDD-24EBB6FEEA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9898A3-47D8-40C9-AD22-17A77B3102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30BB13-7EBD-407A-AA24-86C000C640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A583A7-E52F-4AF7-A70A-D1E42E5280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F32D74-E446-4960-B419-77040E5BDA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CEC0DF-0A73-480B-A05C-F8FF6B13E7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2A136E-CDDE-4BCC-877E-9BD260FD1C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5C1180-6E9B-45E0-AA59-CFECF6A945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AE1CC78-1EA3-458F-9CE1-20BC29480E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5AD54ED-0F55-4459-9E50-15175B3D88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2D30EF-5C80-456B-85A9-7A7FD8F343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C07819-A81F-4B19-BA09-60C573A5D6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E3D56DC-6180-4F6E-9EBE-262C04F4EA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813695-1CDE-4C53-B6CB-26B98EB3CB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3963BF9-42D4-4375-AE30-A884D2CB8D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2CB86C-C0C2-4801-8419-D500575793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A9E83D-769A-4A04-B7BE-AE2DEFBC41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B61D632-0544-4953-81EC-4294001AF4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3B6CD82-A181-4E88-B9D4-63193E9BFB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3D4891B-6534-472D-85A1-19796528FB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79E3B4-685E-4ED9-9D4A-40B0EF6F71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1C083D-74E4-470A-8599-A6EB14880F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6C2E16-EA49-4E11-B35A-8BB676842A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6630AC2-3FB1-4559-9E41-45C6033E0A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484416-94A7-40C6-A6D0-119459ED46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9C4F6F-6A03-4734-A605-C602E6F255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35291A-A99B-4368-A274-EBA5075768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A73989-24C1-4EB8-99AB-E5B2D42926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308B29-C6C3-4197-8B0F-12E0A15BC9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1"/>
          <p:cNvSpPr/>
          <p:nvPr/>
        </p:nvSpPr>
        <p:spPr>
          <a:xfrm>
            <a:off x="812880" y="914400"/>
            <a:ext cx="10666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90320" cy="8647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F63B655-B10F-4439-A711-A5469D3FC8D4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;p1"/>
          <p:cNvSpPr/>
          <p:nvPr/>
        </p:nvSpPr>
        <p:spPr>
          <a:xfrm>
            <a:off x="812880" y="914400"/>
            <a:ext cx="10666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90320" cy="8647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4060A5E-D0D7-4A44-B058-8E386406FC7C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1;p1"/>
          <p:cNvSpPr/>
          <p:nvPr/>
        </p:nvSpPr>
        <p:spPr>
          <a:xfrm>
            <a:off x="812880" y="914400"/>
            <a:ext cx="10666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7" name="Google Shape;12;p1" descr=""/>
          <p:cNvPicPr/>
          <p:nvPr/>
        </p:nvPicPr>
        <p:blipFill>
          <a:blip r:embed="rId2"/>
          <a:srcRect l="0" t="0" r="0" b="18053"/>
          <a:stretch/>
        </p:blipFill>
        <p:spPr>
          <a:xfrm>
            <a:off x="0" y="5991480"/>
            <a:ext cx="12190320" cy="86472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A44E3ED-5606-45A9-86EA-53A2668A89F3}" type="slidenum">
              <a:rPr b="0" lang="en-GB" sz="120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github.com/SumithKumar-4729/Multifactor-based-Geolocation-Attendance-System" TargetMode="External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90560" y="1069200"/>
            <a:ext cx="11628000" cy="96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MultiFactor Based GeoLocation Attendance System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0" name="Google Shape;90;p13"/>
          <p:cNvSpPr/>
          <p:nvPr/>
        </p:nvSpPr>
        <p:spPr>
          <a:xfrm>
            <a:off x="6480360" y="2513520"/>
            <a:ext cx="551268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Under the Supervision of,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Mr.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Midhun Lal V S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Assistant Professor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School of Computer Science and Engineering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000000"/>
                </a:solidFill>
                <a:latin typeface="Times new roman"/>
                <a:ea typeface="Cambria"/>
              </a:rPr>
              <a:t>Presidency University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IN" sz="2200" spc="-1" strike="noStrike">
              <a:latin typeface="Arial"/>
            </a:endParaRPr>
          </a:p>
        </p:txBody>
      </p:sp>
      <p:graphicFrame>
        <p:nvGraphicFramePr>
          <p:cNvPr id="131" name="Google Shape;89;p13"/>
          <p:cNvGraphicFramePr/>
          <p:nvPr/>
        </p:nvGraphicFramePr>
        <p:xfrm>
          <a:off x="412200" y="2636280"/>
          <a:ext cx="6067800" cy="1538640"/>
        </p:xfrm>
        <a:graphic>
          <a:graphicData uri="http://schemas.openxmlformats.org/drawingml/2006/table">
            <a:tbl>
              <a:tblPr/>
              <a:tblGrid>
                <a:gridCol w="2091240"/>
                <a:gridCol w="3976920"/>
              </a:tblGrid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GB" sz="1800" spc="-1" strike="noStrike">
                          <a:solidFill>
                            <a:srgbClr val="17365d"/>
                          </a:solidFill>
                          <a:latin typeface="Times new roman"/>
                          <a:ea typeface="Arial"/>
                        </a:rPr>
                        <a:t>Roll Number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GB" sz="1800" spc="-1" strike="noStrike">
                          <a:solidFill>
                            <a:srgbClr val="17365d"/>
                          </a:solidFill>
                          <a:latin typeface="Times new roman"/>
                          <a:ea typeface="Arial"/>
                        </a:rPr>
                        <a:t>Student Name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5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20221COM0152   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Hrishikesh Vivekanand Ghodke 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20221COM0185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Ravi Ranjan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20221COM0192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  <a:ea typeface="Arial"/>
                        </a:rPr>
                        <a:t>Sumith Kumar V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" name="Google Shape;91;p13"/>
          <p:cNvSpPr/>
          <p:nvPr/>
        </p:nvSpPr>
        <p:spPr>
          <a:xfrm>
            <a:off x="2832120" y="136440"/>
            <a:ext cx="549720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CSE7302- University</a:t>
            </a: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	</a:t>
            </a: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 Project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17365d"/>
                </a:solidFill>
                <a:latin typeface="Cambria"/>
                <a:ea typeface="Cambria"/>
              </a:rPr>
              <a:t>Review-2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" name="Google Shape;91;p13"/>
          <p:cNvSpPr/>
          <p:nvPr/>
        </p:nvSpPr>
        <p:spPr>
          <a:xfrm>
            <a:off x="0" y="4543920"/>
            <a:ext cx="12248280" cy="156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Program: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B.Tech(COM)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HoD: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Dr. Gopal Krishna Shyam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Program Project Coordinator: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Mrs Sumita Guddin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f81bd"/>
                </a:solidFill>
                <a:latin typeface="Cambria"/>
                <a:ea typeface="Cambria"/>
              </a:rPr>
              <a:t>Name of the School Project Coordinator: </a:t>
            </a:r>
            <a:r>
              <a:rPr b="1" lang="en-US" sz="1800" spc="-1" strike="noStrike">
                <a:solidFill>
                  <a:srgbClr val="000000"/>
                </a:solidFill>
                <a:latin typeface="Cambria"/>
                <a:ea typeface="Cambria"/>
              </a:rPr>
              <a:t>Dr. Sampath A K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60000" y="1980000"/>
            <a:ext cx="323856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Batch Number:</a:t>
            </a:r>
            <a:r>
              <a:rPr b="1" lang="en-US" sz="2200" spc="-1" strike="noStrike">
                <a:solidFill>
                  <a:srgbClr val="17365d"/>
                </a:solidFill>
                <a:latin typeface="Times new roman"/>
                <a:ea typeface="Cambria"/>
              </a:rPr>
              <a:t>COM_32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900000" y="235800"/>
            <a:ext cx="310500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Abstract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60000" y="1800000"/>
            <a:ext cx="11339640" cy="34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Times new roman"/>
              </a:rPr>
              <a:t>Attendance management in educational institutions and corporate organizations requires accuracy, security, and scalability. Traditional methods such as manual roll calls, biometric devices, and GPS-based mobile systems are prone to proxy attendance, indoor inaccuracy, and location spoofing. To address these challenges, this project proposes a Geo-Location Based Attendance Marking System that combines Wi-Fi BSSID-based location verification, mock location detection, and device-level multi-factor authentication.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Times new roman"/>
              </a:rPr>
              <a:t>The system uses the Wi-Fi BSSID of connected access points to ensure accurate indoor and room-level presence validation, overcoming the limitations of GPS. Mock location detection prevents location spoofing, while user authentication is secured using device-provided biometrics with a PIN fallback, without storing biometric data. The solution includes an Android application for attendance marking, a web-based admin portal, and a FastAPI backend with PostgreSQL, secured using HTTPS and JWT authentication. The proposed system is secure, scalable, cost-effective, and suitable for real-world deployment in educational and corporate environments.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Objectives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12880" y="1143000"/>
            <a:ext cx="10666080" cy="495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Prevent proxy attendance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Verify indoor presence using Wi-Fi BSSID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Detect GPS spoofing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Use multi-factor authentication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• </a:t>
            </a: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Verdana"/>
              </a:rPr>
              <a:t>Ensure scalability and privacy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Problem Statement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55920" y="1466280"/>
            <a:ext cx="10666080" cy="392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57200" indent="-3808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Verdana"/>
              </a:rPr>
              <a:t>Traditional attendance systems suffer from proxy attendance, GPS spoofing, indoor inaccuracy, and high hardware costs. A secure, indoor-accurate, and hardware-independent attendance solution is required.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3"/>
          <p:cNvSpPr/>
          <p:nvPr/>
        </p:nvSpPr>
        <p:spPr>
          <a:xfrm>
            <a:off x="81324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Literature Survey - Overview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80000" y="1441800"/>
            <a:ext cx="11879640" cy="34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lang="en-IN" sz="2200" spc="-1" strike="noStrike">
                <a:latin typeface="Times new roman"/>
              </a:rPr>
              <a:t>A comprehensive review of 10 research papers from IEEE, ACM, and reputed journals was conducted.</a:t>
            </a:r>
            <a:endParaRPr b="0" lang="en-IN" sz="22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IN" sz="22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200" spc="-1" strike="noStrike">
                <a:latin typeface="Times new roman"/>
              </a:rPr>
              <a:t>The survey focused on:</a:t>
            </a:r>
            <a:endParaRPr b="0" lang="en-IN" sz="2200" spc="-1" strike="noStrike"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Indoor location techniques using Wi-Fi</a:t>
            </a:r>
            <a:endParaRPr b="0" lang="en-IN" sz="2200" spc="-1" strike="noStrike"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GPS spoofing and mock location attacks</a:t>
            </a:r>
            <a:endParaRPr b="0" lang="en-IN" sz="2200" spc="-1" strike="noStrike"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Multi-factor authentication and biometrics</a:t>
            </a:r>
            <a:endParaRPr b="0" lang="en-IN" sz="2200" spc="-1" strike="noStrike"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Existing mobile-based attendance systems</a:t>
            </a:r>
            <a:endParaRPr b="0" lang="en-IN" sz="22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200" spc="-1" strike="noStrike">
                <a:latin typeface="Times new roman"/>
              </a:rPr>
              <a:t>The objective was to identify limitations in current approaches and derive requirements for a secure attendance system.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5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Wi-Fi Based Indoor Location Systems (Set 1)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60000" y="1010160"/>
            <a:ext cx="10799640" cy="48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Key Papers: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Wi-Fi Fingerprint-Based Indoor Positioning (IEEE) - He &amp; Chan, 2016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Location &amp; Movement Detection using Wi-Fi BSSID – Sakib et al., 2014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Findings: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GPS is unreliable indoors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Wi-Fi access points are stable location identifiers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BSSID can identify room / classroom-level presence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Suitable for indoor attendance validation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Limitation Identified: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Most works focus on position estimation, not attendance security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➡️ </a:t>
            </a:r>
            <a:r>
              <a:rPr b="0" lang="en-IN" sz="2000" spc="-1" strike="noStrike">
                <a:latin typeface="Times new roman"/>
              </a:rPr>
              <a:t>Motivation for using Wi-Fi BSSID as presence proof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555360" y="1526040"/>
            <a:ext cx="4089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6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GPS Spoofing &amp; Mock Location Attacks (Set 2)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60000" y="974160"/>
            <a:ext cx="1079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Key Papers: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  <a:ea typeface="Noto Sans CJK SC"/>
              </a:rPr>
              <a:t>Spotr: GPS Spoofing Detection – Oligeri et al., 2020</a:t>
            </a:r>
            <a:r>
              <a:rPr b="0" lang="en-IN" sz="2000" spc="-1" strike="noStrike">
                <a:latin typeface="Times new roman"/>
              </a:rPr>
              <a:t>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Detecting GNSS Jamming &amp; Spoofing on Android – Spens et al., 2022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Findings: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GPS signals are easy to spoof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Fake GPS &amp; mock location apps can bypass GPS-only systems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Android provides OS-level indicators for mock location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Limitation Identified: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Existing attendance systems do not detect spoofing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➡️ </a:t>
            </a:r>
            <a:r>
              <a:rPr b="0" lang="en-IN" sz="2000" spc="-1" strike="noStrike">
                <a:latin typeface="Times new roman"/>
              </a:rPr>
              <a:t>Need for mock location detection in attendance apps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7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Authentication &amp; Attendance Systems (Set 3 &amp; 4)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60000" y="974160"/>
            <a:ext cx="1079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Key Papers: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Multi-Factor Authentication: A Survey – Das et al., 2018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Android Biometric Authentication – Wrona &amp; Kaczmarek ., 2014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GPS-based Attendance Systems _ Patil et al .,2023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Mobile Attendance Systems _ Adejo &amp; Ejoh ., 2022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Findings: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Single-factor authentication is insecure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Biometrics are effective but should not be standalone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Existing attendance systems: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Use GPS only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Or simple login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Vulnerable to proxy attendance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Limitation Identified: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No system combines secure location + MFA + privacy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8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Research Gap &amp; Motivation 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60000" y="1080000"/>
            <a:ext cx="1043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Identified Gaps: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GPS-based attendance → easily spoofed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Indoor environments → GPS inaccurate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Biometric-only systems → privacy and security risks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Wi-Fi-based systems → lack spoofing detection and MFA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Conclusion from Literature: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A secure attendance system must combine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000" spc="-1" strike="noStrike">
                <a:latin typeface="Times new roman"/>
              </a:rPr>
              <a:t>indoor-reliable location, anti-spoofing, and multi-factor authentication.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9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Existing Attendance Methods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60000" y="1080000"/>
            <a:ext cx="1043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latin typeface="Times new roman"/>
              </a:rPr>
              <a:t>Existing Attendance Systems:</a:t>
            </a: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Manual Attendance Systems-</a:t>
            </a: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Roll call or paper-based registers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Biometric Attendance Systems-</a:t>
            </a: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Fingerprint or face recognition devices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GPS-Based Attendance Systems-</a:t>
            </a: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Location verified using GPS coordinates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Mobile-Based Attendance Applications-</a:t>
            </a: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App-based attendance using login or simple location checks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0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Drawbacks of Manual &amp; Biometric Systems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60000" y="1080000"/>
            <a:ext cx="1043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Limitations of Traditional Systems: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Manual Attendance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Time-consuming and inefficient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High chance of proxy attendance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Difficult to manage for large classrooms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Biometric Devices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Require dedicated hardware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High installation and maintenance cost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Scalability issues in large institutions</a:t>
            </a:r>
            <a:endParaRPr b="0" lang="en-IN" sz="2000" spc="-1" strike="noStrike">
              <a:latin typeface="Arial"/>
            </a:endParaRPr>
          </a:p>
          <a:p>
            <a:pPr lvl="3" marL="864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Privacy concerns due to biometric data storage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1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Drawbacks of GPS-Based Attendance Systems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40000" y="1800000"/>
            <a:ext cx="1043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Limitations of GPS-Based Systems: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GPS is inaccurate indoors</a:t>
            </a: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Location can be spoofed using fake GPS apps</a:t>
            </a: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Cannot distinguish different floors or classrooms</a:t>
            </a: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Relies on single-factor authentication</a:t>
            </a:r>
            <a:endParaRPr b="0" lang="en-IN" sz="2000" spc="-1" strike="noStrike"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Vulnerable to proxy and location fraud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As per our “Literature shows GPS-only attendance is unreliable and insecure”.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2"/>
          <p:cNvSpPr/>
          <p:nvPr/>
        </p:nvSpPr>
        <p:spPr>
          <a:xfrm>
            <a:off x="81360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Summary of Drawbacks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40000" y="1800000"/>
            <a:ext cx="1043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Weak or no indoor location validation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Lack of anti-spoofing mechanisms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Dependence on single-factor authentication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High cost or poor scalability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0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Privacy and data security concerns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4"/>
          <p:cNvSpPr/>
          <p:nvPr/>
        </p:nvSpPr>
        <p:spPr>
          <a:xfrm>
            <a:off x="81324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Architecture Diagram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5580000" y="900000"/>
            <a:ext cx="5579640" cy="521964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540000" y="1080000"/>
            <a:ext cx="5039640" cy="48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3"/>
          <p:cNvSpPr/>
          <p:nvPr/>
        </p:nvSpPr>
        <p:spPr>
          <a:xfrm>
            <a:off x="813240" y="274680"/>
            <a:ext cx="10666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 ew roman"/>
                <a:ea typeface="Verdana"/>
              </a:rPr>
              <a:t>Software Details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900000" y="1080000"/>
            <a:ext cx="8099640" cy="57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Technology Stack Components: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Cross-Platform Framework: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Flutter or React Native 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Backend Framework: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Node.js (Express), Python (Django/Flask), or Java (Spring) 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Database: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PostgreSQL or MongoDB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Cloud Platform: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AWS, Azure, or Google Cloud Platform (GCP)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Biometric SDKs: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Device-level: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Android Biometric Prompt, iOS Local Authentication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</a:t>
            </a: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Server-side: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Open-source Biometric SDK for multimodal matching 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Security Protocols: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Verdana"/>
              </a:rPr>
              <a:t> TLS/HTTPS, OAuth2/JWT, AES-256 encryption   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720000" y="360000"/>
            <a:ext cx="737928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17365d"/>
                </a:solidFill>
                <a:latin typeface="Times new roman"/>
                <a:ea typeface="Verdana"/>
              </a:rPr>
              <a:t>Git Hub Link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2160000" y="2216520"/>
            <a:ext cx="70192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400" spc="-1" strike="noStrike" u="sng">
                <a:solidFill>
                  <a:srgbClr val="0000ff"/>
                </a:solidFill>
                <a:uFillTx/>
                <a:latin typeface="Times New Roman"/>
                <a:ea typeface="DejaVu Sans"/>
                <a:hlinkClick r:id="rId1"/>
              </a:rPr>
              <a:t>Multifactor based Geolocation Attendance System GIT.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00000" y="2160000"/>
            <a:ext cx="179928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LINK: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4" descr=""/>
          <p:cNvPicPr/>
          <p:nvPr/>
        </p:nvPicPr>
        <p:blipFill>
          <a:blip r:embed="rId1"/>
          <a:stretch/>
        </p:blipFill>
        <p:spPr>
          <a:xfrm>
            <a:off x="4082760" y="1441440"/>
            <a:ext cx="3891600" cy="393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</TotalTime>
  <Application>LibreOffice/7.3.7.2$Linux_X86_64 LibreOffice_project/30$Build-2</Application>
  <AppVersion>15.0000</AppVersion>
  <Words>1249</Words>
  <Paragraphs>154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2025-08-20T03:51:44Z</dcterms:created>
  <dc:creator>Admin</dc:creator>
  <dc:description/>
  <dc:language>en-IN</dc:language>
  <cp:lastModifiedBy/>
  <dcterms:modified xsi:type="dcterms:W3CDTF">2026-02-07T14:09:49Z</dcterms:modified>
  <cp:revision>59</cp:revision>
  <dc:subject/>
  <dc:title>PROJECT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E6A35B7518FE4A5A924F8357D5CE77D3_12</vt:lpwstr>
  </property>
  <property fmtid="{D5CDD505-2E9C-101B-9397-08002B2CF9AE}" pid="3" name="KSOProductBuildVer">
    <vt:lpwstr>1033-12.2.0.21931</vt:lpwstr>
  </property>
  <property fmtid="{D5CDD505-2E9C-101B-9397-08002B2CF9AE}" pid="4" name="Notes">
    <vt:i4>11</vt:i4>
  </property>
  <property fmtid="{D5CDD505-2E9C-101B-9397-08002B2CF9AE}" pid="5" name="PresentationFormat">
    <vt:lpwstr>Widescreen</vt:lpwstr>
  </property>
  <property fmtid="{D5CDD505-2E9C-101B-9397-08002B2CF9AE}" pid="6" name="Slides">
    <vt:i4>14</vt:i4>
  </property>
</Properties>
</file>