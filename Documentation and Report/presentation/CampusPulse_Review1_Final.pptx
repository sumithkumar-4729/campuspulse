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6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437C924-0FF3-47DB-813B-1DDB90481D8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10E242E-3600-4506-A0D6-D992922980D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420F548-EE80-4FDB-AD05-C3C1237E1F1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33F14DD-6254-4351-8A81-FB46FDD1AD8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E28A0F3-CFD1-43EF-AE84-5915E144676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325A83E-2859-4012-8614-91E4D55D3A9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52928F4-14DA-4B74-A581-73A55561B0A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1DE1FB9-7B6A-40C4-969E-3B6F37FCA59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13E6FB6-7E2C-4FF3-A004-0BD7963C1F9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255360F-D766-4543-B786-32575DC683A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BD9E03A-9419-47E3-AFFD-D4EBB2679BD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15749EA-3837-4288-A73A-45C6D8A4880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FFD6527-1C51-4F54-871D-CFA8B962DB6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06D4094-D841-4D88-BBC8-1545B33648E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A6A79C3-4C12-46BD-9BFE-489724C173A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0BB0C10-1976-4BEA-9C69-88B04DC6394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7191764-A40B-41B7-AC13-ACD28B07B52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BBD7C41-2558-420A-BE27-27920AFD62E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53A3DEC-982E-4953-8872-5F9C220102D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0AEBF12-ABD3-4CB3-BE99-375DC746A9F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9C8C75D-495C-454B-B988-F90B96AD1A3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8A49BB5-E00B-4D20-A327-ABC92C9BBAA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9908BC5-052C-4C7A-9C33-4757D2C0765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4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5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8FE8816-CD04-434C-B32D-09D133C13F3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5A0404F-7877-418B-B459-2787B83F243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78B7AE0-CB57-45EE-9928-BBA846E53DC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502C6B6-BF71-4610-93EE-69CFE40B2CA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4F22D89-8EAC-4A31-818B-0B07971DA37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F621B53F-881B-49B7-94A0-60247B1935C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EF1069D-A04B-46A4-9A07-63769EA31AD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260AC33-B6EB-44E7-A0EA-4F18D97E460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945D5AF-4B7E-4B08-992D-F106C154CB8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7BB7CB0-6F26-4EA3-BDFB-9350286948A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F7690CE-ADE1-4A7F-8C50-7C07843FAA4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B1072B0-2089-49BD-8802-16508CF4EC9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25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26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27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28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711E130-8949-42D1-B9D9-551CB9AC175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11;p1"/>
          <p:cNvSpPr/>
          <p:nvPr/>
        </p:nvSpPr>
        <p:spPr>
          <a:xfrm>
            <a:off x="812880" y="914400"/>
            <a:ext cx="1066644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" name="Google Shape;12;p1" descr=""/>
          <p:cNvPicPr/>
          <p:nvPr/>
        </p:nvPicPr>
        <p:blipFill>
          <a:blip r:embed="rId2"/>
          <a:srcRect l="0" t="0" r="0" b="18053"/>
          <a:stretch/>
        </p:blipFill>
        <p:spPr>
          <a:xfrm>
            <a:off x="0" y="5991480"/>
            <a:ext cx="12190680" cy="86508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ftr" idx="1"/>
          </p:nvPr>
        </p:nvSpPr>
        <p:spPr>
          <a:xfrm>
            <a:off x="4165560" y="6356520"/>
            <a:ext cx="385920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IN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>
          <a:xfrm>
            <a:off x="8737560" y="6356520"/>
            <a:ext cx="284364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888888"/>
                </a:solidFill>
                <a:latin typeface="Verdana"/>
                <a:ea typeface="Verdan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F76452ED-110E-4939-A4EC-CA9B9F4C19BD}" type="slidenum">
              <a:rPr b="0" lang="en-GB" sz="1200" spc="-1" strike="noStrike">
                <a:solidFill>
                  <a:srgbClr val="888888"/>
                </a:solidFill>
                <a:latin typeface="Verdana"/>
                <a:ea typeface="Verdan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>
          <a:xfrm>
            <a:off x="609480" y="6356520"/>
            <a:ext cx="284364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11;p1"/>
          <p:cNvSpPr/>
          <p:nvPr/>
        </p:nvSpPr>
        <p:spPr>
          <a:xfrm>
            <a:off x="812880" y="914400"/>
            <a:ext cx="1066644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44" name="Google Shape;12;p1" descr=""/>
          <p:cNvPicPr/>
          <p:nvPr/>
        </p:nvPicPr>
        <p:blipFill>
          <a:blip r:embed="rId2"/>
          <a:srcRect l="0" t="0" r="0" b="18053"/>
          <a:stretch/>
        </p:blipFill>
        <p:spPr>
          <a:xfrm>
            <a:off x="0" y="5991480"/>
            <a:ext cx="12190680" cy="865080"/>
          </a:xfrm>
          <a:prstGeom prst="rect">
            <a:avLst/>
          </a:prstGeom>
          <a:ln w="0">
            <a:noFill/>
          </a:ln>
        </p:spPr>
      </p:pic>
      <p:sp>
        <p:nvSpPr>
          <p:cNvPr id="45" name="PlaceHolder 1"/>
          <p:cNvSpPr>
            <a:spLocks noGrp="1"/>
          </p:cNvSpPr>
          <p:nvPr>
            <p:ph type="ftr" idx="4"/>
          </p:nvPr>
        </p:nvSpPr>
        <p:spPr>
          <a:xfrm>
            <a:off x="4165560" y="6356520"/>
            <a:ext cx="385920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IN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sldNum" idx="5"/>
          </p:nvPr>
        </p:nvSpPr>
        <p:spPr>
          <a:xfrm>
            <a:off x="8737560" y="6356520"/>
            <a:ext cx="284364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888888"/>
                </a:solidFill>
                <a:latin typeface="Verdana"/>
                <a:ea typeface="Verdan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FC8C2817-464C-4FA6-80A0-BA1EEA6109AC}" type="slidenum">
              <a:rPr b="0" lang="en-GB" sz="1200" spc="-1" strike="noStrike">
                <a:solidFill>
                  <a:srgbClr val="888888"/>
                </a:solidFill>
                <a:latin typeface="Verdana"/>
                <a:ea typeface="Verdan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dt" idx="6"/>
          </p:nvPr>
        </p:nvSpPr>
        <p:spPr>
          <a:xfrm>
            <a:off x="609480" y="6356520"/>
            <a:ext cx="284364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11;p1"/>
          <p:cNvSpPr/>
          <p:nvPr/>
        </p:nvSpPr>
        <p:spPr>
          <a:xfrm>
            <a:off x="812880" y="914400"/>
            <a:ext cx="1066644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87" name="Google Shape;12;p1" descr=""/>
          <p:cNvPicPr/>
          <p:nvPr/>
        </p:nvPicPr>
        <p:blipFill>
          <a:blip r:embed="rId2"/>
          <a:srcRect l="0" t="0" r="0" b="18053"/>
          <a:stretch/>
        </p:blipFill>
        <p:spPr>
          <a:xfrm>
            <a:off x="0" y="5991480"/>
            <a:ext cx="12190680" cy="865080"/>
          </a:xfrm>
          <a:prstGeom prst="rect">
            <a:avLst/>
          </a:prstGeom>
          <a:ln w="0">
            <a:noFill/>
          </a:ln>
        </p:spPr>
      </p:pic>
      <p:sp>
        <p:nvSpPr>
          <p:cNvPr id="88" name="PlaceHolder 1"/>
          <p:cNvSpPr>
            <a:spLocks noGrp="1"/>
          </p:cNvSpPr>
          <p:nvPr>
            <p:ph type="ftr" idx="7"/>
          </p:nvPr>
        </p:nvSpPr>
        <p:spPr>
          <a:xfrm>
            <a:off x="4165560" y="6356520"/>
            <a:ext cx="385920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IN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sldNum" idx="8"/>
          </p:nvPr>
        </p:nvSpPr>
        <p:spPr>
          <a:xfrm>
            <a:off x="8737560" y="6356520"/>
            <a:ext cx="284364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888888"/>
                </a:solidFill>
                <a:latin typeface="Verdana"/>
                <a:ea typeface="Verdan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928090B4-6A8C-408B-849C-057DE47E441C}" type="slidenum">
              <a:rPr b="0" lang="en-GB" sz="1200" spc="-1" strike="noStrike">
                <a:solidFill>
                  <a:srgbClr val="888888"/>
                </a:solidFill>
                <a:latin typeface="Verdana"/>
                <a:ea typeface="Verdan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dt" idx="9"/>
          </p:nvPr>
        </p:nvSpPr>
        <p:spPr>
          <a:xfrm>
            <a:off x="609480" y="6356520"/>
            <a:ext cx="284364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hyperlink" Target="https://github.com/SumithKumar-4729/Multifactor-based-Geolocation-Attendance-System" TargetMode="External"/><Relationship Id="rId2" Type="http://schemas.openxmlformats.org/officeDocument/2006/relationships/slideLayout" Target="../slideLayouts/slideLayout2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790560" y="1069200"/>
            <a:ext cx="11628360" cy="96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IN" sz="2800" spc="-1" strike="noStrike">
                <a:solidFill>
                  <a:srgbClr val="17365d"/>
                </a:solidFill>
                <a:latin typeface="Times new roman"/>
                <a:ea typeface="Verdana"/>
              </a:rPr>
              <a:t>MultiFactor Based GeoLocation Attendance System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130" name="Google Shape;90;p13"/>
          <p:cNvSpPr/>
          <p:nvPr/>
        </p:nvSpPr>
        <p:spPr>
          <a:xfrm>
            <a:off x="6480360" y="2513520"/>
            <a:ext cx="5513040" cy="20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9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2200" spc="-1" strike="noStrike">
                <a:solidFill>
                  <a:srgbClr val="17365d"/>
                </a:solidFill>
                <a:latin typeface="Times new roman"/>
                <a:ea typeface="Cambria"/>
              </a:rPr>
              <a:t>Under the Supervision of,</a:t>
            </a:r>
            <a:endParaRPr b="0" lang="en-IN" sz="22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1" lang="en-GB" sz="2200" spc="-1" strike="noStrike">
                <a:solidFill>
                  <a:srgbClr val="000000"/>
                </a:solidFill>
                <a:latin typeface="Times new roman"/>
                <a:ea typeface="Cambria"/>
              </a:rPr>
              <a:t>Mr.</a:t>
            </a: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Cambria"/>
              </a:rPr>
              <a:t>Midhun Lal V S</a:t>
            </a:r>
            <a:endParaRPr b="0" lang="en-IN" sz="22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1" lang="en-GB" sz="2200" spc="-1" strike="noStrike">
                <a:solidFill>
                  <a:srgbClr val="000000"/>
                </a:solidFill>
                <a:latin typeface="Times new roman"/>
                <a:ea typeface="Cambria"/>
              </a:rPr>
              <a:t>Assistant Professor</a:t>
            </a:r>
            <a:endParaRPr b="0" lang="en-IN" sz="22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1" lang="en-GB" sz="2200" spc="-1" strike="noStrike">
                <a:solidFill>
                  <a:srgbClr val="000000"/>
                </a:solidFill>
                <a:latin typeface="Times new roman"/>
                <a:ea typeface="Cambria"/>
              </a:rPr>
              <a:t>School of Computer Science and Engineering</a:t>
            </a:r>
            <a:endParaRPr b="0" lang="en-IN" sz="22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1" lang="en-GB" sz="2200" spc="-1" strike="noStrike">
                <a:solidFill>
                  <a:srgbClr val="000000"/>
                </a:solidFill>
                <a:latin typeface="Times new roman"/>
                <a:ea typeface="Cambria"/>
              </a:rPr>
              <a:t>Presidency University</a:t>
            </a:r>
            <a:endParaRPr b="0" lang="en-IN" sz="2200" spc="-1" strike="noStrike">
              <a:latin typeface="Arial"/>
            </a:endParaRPr>
          </a:p>
        </p:txBody>
      </p:sp>
      <p:graphicFrame>
        <p:nvGraphicFramePr>
          <p:cNvPr id="131" name="Google Shape;89;p13"/>
          <p:cNvGraphicFramePr/>
          <p:nvPr/>
        </p:nvGraphicFramePr>
        <p:xfrm>
          <a:off x="412200" y="2636280"/>
          <a:ext cx="6067800" cy="1538640"/>
        </p:xfrm>
        <a:graphic>
          <a:graphicData uri="http://schemas.openxmlformats.org/drawingml/2006/table">
            <a:tbl>
              <a:tblPr/>
              <a:tblGrid>
                <a:gridCol w="2091240"/>
                <a:gridCol w="3976920"/>
              </a:tblGrid>
              <a:tr h="3477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GB" sz="1800" spc="-1" strike="noStrike">
                          <a:solidFill>
                            <a:srgbClr val="17365d"/>
                          </a:solidFill>
                          <a:latin typeface="Times new roman"/>
                          <a:ea typeface="Arial"/>
                        </a:rPr>
                        <a:t>Roll Number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GB" sz="1800" spc="-1" strike="noStrike">
                          <a:solidFill>
                            <a:srgbClr val="17365d"/>
                          </a:solidFill>
                          <a:latin typeface="Times new roman"/>
                          <a:ea typeface="Arial"/>
                        </a:rPr>
                        <a:t>Student Name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957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Arial"/>
                        </a:rPr>
                        <a:t>20221COM0152    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Arial"/>
                        </a:rPr>
                        <a:t>Hrishikesh Vivekanand Ghodke 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477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Arial"/>
                        </a:rPr>
                        <a:t>20221COM0185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Arial"/>
                        </a:rPr>
                        <a:t>Ravi Ranjan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477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Arial"/>
                        </a:rPr>
                        <a:t>20221COM0192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Arial"/>
                        </a:rPr>
                        <a:t>Sumith Kumar V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2" name="Google Shape;91;p13"/>
          <p:cNvSpPr/>
          <p:nvPr/>
        </p:nvSpPr>
        <p:spPr>
          <a:xfrm>
            <a:off x="2832120" y="136440"/>
            <a:ext cx="5497560" cy="72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1800" spc="-1" strike="noStrike">
                <a:solidFill>
                  <a:srgbClr val="17365d"/>
                </a:solidFill>
                <a:latin typeface="Cambria"/>
                <a:ea typeface="Cambria"/>
              </a:rPr>
              <a:t>CSE7302- University</a:t>
            </a:r>
            <a:r>
              <a:rPr b="1" lang="en-GB" sz="1800" spc="-1" strike="noStrike">
                <a:solidFill>
                  <a:srgbClr val="17365d"/>
                </a:solidFill>
                <a:latin typeface="Cambria"/>
                <a:ea typeface="Cambria"/>
              </a:rPr>
              <a:t>	</a:t>
            </a:r>
            <a:r>
              <a:rPr b="1" lang="en-GB" sz="1800" spc="-1" strike="noStrike">
                <a:solidFill>
                  <a:srgbClr val="17365d"/>
                </a:solidFill>
                <a:latin typeface="Cambria"/>
                <a:ea typeface="Cambria"/>
              </a:rPr>
              <a:t> Project</a:t>
            </a:r>
            <a:endParaRPr b="0" lang="en-IN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09"/>
              </a:spcBef>
              <a:buNone/>
              <a:tabLst>
                <a:tab algn="l" pos="0"/>
              </a:tabLst>
            </a:pPr>
            <a:r>
              <a:rPr b="1" lang="en-GB" sz="1800" spc="-1" strike="noStrike">
                <a:solidFill>
                  <a:srgbClr val="17365d"/>
                </a:solidFill>
                <a:latin typeface="Cambria"/>
                <a:ea typeface="Cambria"/>
              </a:rPr>
              <a:t>Review-1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3" name="Google Shape;91;p13"/>
          <p:cNvSpPr/>
          <p:nvPr/>
        </p:nvSpPr>
        <p:spPr>
          <a:xfrm>
            <a:off x="0" y="4543920"/>
            <a:ext cx="12248640" cy="156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4f81bd"/>
                </a:solidFill>
                <a:latin typeface="Cambria"/>
                <a:ea typeface="Cambria"/>
              </a:rPr>
              <a:t>Name of the Program: </a:t>
            </a:r>
            <a:r>
              <a:rPr b="1" lang="en-US" sz="1800" spc="-1" strike="noStrike">
                <a:solidFill>
                  <a:srgbClr val="000000"/>
                </a:solidFill>
                <a:latin typeface="Cambria"/>
                <a:ea typeface="Cambria"/>
              </a:rPr>
              <a:t>B.Tech(COM)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4f81bd"/>
                </a:solidFill>
                <a:latin typeface="Cambria"/>
                <a:ea typeface="Cambria"/>
              </a:rPr>
              <a:t>Name of the HoD: </a:t>
            </a:r>
            <a:r>
              <a:rPr b="1" lang="en-US" sz="1800" spc="-1" strike="noStrike">
                <a:solidFill>
                  <a:srgbClr val="000000"/>
                </a:solidFill>
                <a:latin typeface="Cambria"/>
                <a:ea typeface="Cambria"/>
              </a:rPr>
              <a:t>Dr. Gopal Krishna Shyam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4f81bd"/>
                </a:solidFill>
                <a:latin typeface="Cambria"/>
                <a:ea typeface="Cambria"/>
              </a:rPr>
              <a:t>Name of the Program Project Coordinator: </a:t>
            </a:r>
            <a:r>
              <a:rPr b="1" lang="en-US" sz="1800" spc="-1" strike="noStrike">
                <a:solidFill>
                  <a:srgbClr val="000000"/>
                </a:solidFill>
                <a:latin typeface="Cambria"/>
                <a:ea typeface="Cambria"/>
              </a:rPr>
              <a:t>Mrs Sumita Guddin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4f81bd"/>
                </a:solidFill>
                <a:latin typeface="Cambria"/>
                <a:ea typeface="Cambria"/>
              </a:rPr>
              <a:t>Name of the School Project Coordinator: </a:t>
            </a:r>
            <a:r>
              <a:rPr b="1" lang="en-US" sz="1800" spc="-1" strike="noStrike">
                <a:solidFill>
                  <a:srgbClr val="000000"/>
                </a:solidFill>
                <a:latin typeface="Cambria"/>
                <a:ea typeface="Cambria"/>
              </a:rPr>
              <a:t>Dr. Sampath A K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360000" y="1980000"/>
            <a:ext cx="3238920" cy="35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2200" spc="-1" strike="noStrike">
                <a:solidFill>
                  <a:srgbClr val="17365d"/>
                </a:solidFill>
                <a:latin typeface="Times new roman"/>
                <a:ea typeface="Cambria"/>
              </a:rPr>
              <a:t>Batch Number:</a:t>
            </a:r>
            <a:r>
              <a:rPr b="1" lang="en-US" sz="2200" spc="-1" strike="noStrike">
                <a:solidFill>
                  <a:srgbClr val="17365d"/>
                </a:solidFill>
                <a:latin typeface="Times new roman"/>
                <a:ea typeface="Cambria"/>
              </a:rPr>
              <a:t>COM_32</a:t>
            </a:r>
            <a:endParaRPr b="0" lang="en-IN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812880" y="274680"/>
            <a:ext cx="10666440" cy="48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IN" sz="2800" spc="-1" strike="noStrike">
                <a:solidFill>
                  <a:srgbClr val="17365d"/>
                </a:solidFill>
                <a:latin typeface="Times n ew roman"/>
                <a:ea typeface="Verdana"/>
              </a:rPr>
              <a:t>Problem Statement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655920" y="1466280"/>
            <a:ext cx="10666440" cy="3922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57200" indent="-3808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800" spc="-1" strike="noStrike">
                <a:solidFill>
                  <a:srgbClr val="000000"/>
                </a:solidFill>
                <a:latin typeface="Times new roman"/>
                <a:ea typeface="Verdana"/>
              </a:rPr>
              <a:t>Traditional attendance systems suffer from proxy attendance, GPS spoofing, indoor inaccuracy, and high hardware costs. A secure, indoor-accurate, and hardware-independent attendance solution is required.</a:t>
            </a:r>
            <a:endParaRPr b="0" lang="en-IN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812880" y="274680"/>
            <a:ext cx="10666440" cy="48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IN" sz="2800" spc="-1" strike="noStrike">
                <a:solidFill>
                  <a:srgbClr val="17365d"/>
                </a:solidFill>
                <a:latin typeface="Times new roman"/>
                <a:ea typeface="Verdana"/>
              </a:rPr>
              <a:t>Objectives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812880" y="1143000"/>
            <a:ext cx="10666440" cy="4951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Bef>
                <a:spcPts val="479"/>
              </a:spcBef>
              <a:buNone/>
            </a:pPr>
            <a:r>
              <a:rPr b="0" lang="en-IN" sz="2600" spc="-1" strike="noStrike">
                <a:solidFill>
                  <a:srgbClr val="000000"/>
                </a:solidFill>
                <a:latin typeface="Times new roman"/>
                <a:ea typeface="Verdana"/>
              </a:rPr>
              <a:t>• </a:t>
            </a:r>
            <a:r>
              <a:rPr b="0" lang="en-IN" sz="2600" spc="-1" strike="noStrike">
                <a:solidFill>
                  <a:srgbClr val="000000"/>
                </a:solidFill>
                <a:latin typeface="Times new roman"/>
                <a:ea typeface="Verdana"/>
              </a:rPr>
              <a:t>Prevent proxy attendance</a:t>
            </a:r>
            <a:endParaRPr b="0" lang="en-IN" sz="2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</a:pPr>
            <a:r>
              <a:rPr b="0" lang="en-IN" sz="2600" spc="-1" strike="noStrike">
                <a:solidFill>
                  <a:srgbClr val="000000"/>
                </a:solidFill>
                <a:latin typeface="Times new roman"/>
                <a:ea typeface="Verdana"/>
              </a:rPr>
              <a:t>• </a:t>
            </a:r>
            <a:r>
              <a:rPr b="0" lang="en-IN" sz="2600" spc="-1" strike="noStrike">
                <a:solidFill>
                  <a:srgbClr val="000000"/>
                </a:solidFill>
                <a:latin typeface="Times new roman"/>
                <a:ea typeface="Verdana"/>
              </a:rPr>
              <a:t>Verify indoor presence using Wi-Fi BSSID</a:t>
            </a:r>
            <a:endParaRPr b="0" lang="en-IN" sz="2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</a:pPr>
            <a:r>
              <a:rPr b="0" lang="en-IN" sz="2600" spc="-1" strike="noStrike">
                <a:solidFill>
                  <a:srgbClr val="000000"/>
                </a:solidFill>
                <a:latin typeface="Times new roman"/>
                <a:ea typeface="Verdana"/>
              </a:rPr>
              <a:t>• </a:t>
            </a:r>
            <a:r>
              <a:rPr b="0" lang="en-IN" sz="2600" spc="-1" strike="noStrike">
                <a:solidFill>
                  <a:srgbClr val="000000"/>
                </a:solidFill>
                <a:latin typeface="Times new roman"/>
                <a:ea typeface="Verdana"/>
              </a:rPr>
              <a:t>Detect GPS spoofing</a:t>
            </a:r>
            <a:endParaRPr b="0" lang="en-IN" sz="2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</a:pPr>
            <a:r>
              <a:rPr b="0" lang="en-IN" sz="2600" spc="-1" strike="noStrike">
                <a:solidFill>
                  <a:srgbClr val="000000"/>
                </a:solidFill>
                <a:latin typeface="Times new roman"/>
                <a:ea typeface="Verdana"/>
              </a:rPr>
              <a:t>• </a:t>
            </a:r>
            <a:r>
              <a:rPr b="0" lang="en-IN" sz="2600" spc="-1" strike="noStrike">
                <a:solidFill>
                  <a:srgbClr val="000000"/>
                </a:solidFill>
                <a:latin typeface="Times new roman"/>
                <a:ea typeface="Verdana"/>
              </a:rPr>
              <a:t>Use multi-factor authentication</a:t>
            </a:r>
            <a:endParaRPr b="0" lang="en-IN" sz="2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</a:pPr>
            <a:r>
              <a:rPr b="0" lang="en-IN" sz="2600" spc="-1" strike="noStrike">
                <a:solidFill>
                  <a:srgbClr val="000000"/>
                </a:solidFill>
                <a:latin typeface="Times new roman"/>
                <a:ea typeface="Verdana"/>
              </a:rPr>
              <a:t>• </a:t>
            </a:r>
            <a:r>
              <a:rPr b="0" lang="en-IN" sz="2600" spc="-1" strike="noStrike">
                <a:solidFill>
                  <a:srgbClr val="000000"/>
                </a:solidFill>
                <a:latin typeface="Times new roman"/>
                <a:ea typeface="Verdana"/>
              </a:rPr>
              <a:t>Ensure scalability and privacy</a:t>
            </a:r>
            <a:endParaRPr b="0" lang="en-IN" sz="2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812880" y="274680"/>
            <a:ext cx="10666440" cy="48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IN" sz="2800" spc="-1" strike="noStrike">
                <a:solidFill>
                  <a:srgbClr val="17365d"/>
                </a:solidFill>
                <a:latin typeface="Times new roman"/>
                <a:ea typeface="Verdana"/>
              </a:rPr>
              <a:t>Background and Related Work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812880" y="1143000"/>
            <a:ext cx="10666440" cy="4951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Bef>
                <a:spcPts val="479"/>
              </a:spcBef>
              <a:buNone/>
            </a:pPr>
            <a:r>
              <a:rPr b="1" lang="en-IN" sz="1600" spc="-1" strike="noStrike">
                <a:solidFill>
                  <a:srgbClr val="000000"/>
                </a:solidFill>
                <a:latin typeface="Times new roman"/>
                <a:ea typeface="Verdana"/>
              </a:rPr>
              <a:t>Existing Attendance Systems: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</a:pPr>
            <a:r>
              <a:rPr b="0" lang="en-IN" sz="1600" spc="-1" strike="noStrike">
                <a:solidFill>
                  <a:srgbClr val="000000"/>
                </a:solidFill>
                <a:latin typeface="Times new roman"/>
                <a:ea typeface="Verdana"/>
              </a:rPr>
              <a:t>Manual sign-ins, RFID, QR codes, GPS-based apps, and biometric hardware are commonly used but suffer from proxy attendance, spoofing, manual errors, and high infrastructure costs.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</a:pPr>
            <a:r>
              <a:rPr b="1" lang="en-IN" sz="1600" spc="-1" strike="noStrike">
                <a:solidFill>
                  <a:srgbClr val="000000"/>
                </a:solidFill>
                <a:latin typeface="Times new roman"/>
                <a:ea typeface="Verdana"/>
              </a:rPr>
              <a:t>Limitations of GPS-Based Systems: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</a:pPr>
            <a:r>
              <a:rPr b="0" lang="en-IN" sz="1600" spc="-1" strike="noStrike">
                <a:solidFill>
                  <a:srgbClr val="000000"/>
                </a:solidFill>
                <a:latin typeface="Times new roman"/>
                <a:ea typeface="Verdana"/>
              </a:rPr>
              <a:t>GPS is unreliable indoors, can be spoofed using mock location apps, and cannot distinguish between different classrooms or floors within the same building.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</a:pPr>
            <a:r>
              <a:rPr b="1" lang="en-IN" sz="1600" spc="-1" strike="noStrike">
                <a:solidFill>
                  <a:srgbClr val="000000"/>
                </a:solidFill>
                <a:latin typeface="Times new roman"/>
                <a:ea typeface="Verdana"/>
              </a:rPr>
              <a:t>QR Code, RFID &amp; Biometric Issues: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</a:pPr>
            <a:r>
              <a:rPr b="0" lang="en-IN" sz="1600" spc="-1" strike="noStrike">
                <a:solidFill>
                  <a:srgbClr val="000000"/>
                </a:solidFill>
                <a:latin typeface="Times new roman"/>
                <a:ea typeface="Verdana"/>
              </a:rPr>
              <a:t>QR codes are prone to sharing, while RFID and biometric devices increase maintenance effort and limit scalability.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</a:pPr>
            <a:r>
              <a:rPr b="1" lang="en-IN" sz="1600" spc="-1" strike="noStrike">
                <a:solidFill>
                  <a:srgbClr val="000000"/>
                </a:solidFill>
                <a:latin typeface="Times new roman"/>
                <a:ea typeface="Verdana"/>
              </a:rPr>
              <a:t>Current Mobile Attendance Solutions: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</a:pPr>
            <a:r>
              <a:rPr b="0" lang="en-IN" sz="1600" spc="-1" strike="noStrike">
                <a:solidFill>
                  <a:srgbClr val="000000"/>
                </a:solidFill>
                <a:latin typeface="Times new roman"/>
                <a:ea typeface="Verdana"/>
              </a:rPr>
              <a:t>Many mobile apps rely on device-level biometrics and geofencing but still depend heavily on GPS, reducing indoor accuracy and security.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</a:pPr>
            <a:r>
              <a:rPr b="1" lang="en-IN" sz="1600" spc="-1" strike="noStrike">
                <a:solidFill>
                  <a:srgbClr val="000000"/>
                </a:solidFill>
                <a:latin typeface="Times new roman"/>
                <a:ea typeface="Verdana"/>
              </a:rPr>
              <a:t>Research Gap Identified: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</a:pPr>
            <a:r>
              <a:rPr b="0" lang="en-IN" sz="1600" spc="-1" strike="noStrike">
                <a:solidFill>
                  <a:srgbClr val="000000"/>
                </a:solidFill>
                <a:latin typeface="Times new roman"/>
                <a:ea typeface="Verdana"/>
              </a:rPr>
              <a:t>There is a lack of a secure, indoor-accurate, and spoof-resistant attendance system that does not depend on GPS or dedicated hardware.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</a:pPr>
            <a:r>
              <a:rPr b="1" lang="en-IN" sz="1600" spc="-1" strike="noStrike">
                <a:solidFill>
                  <a:srgbClr val="000000"/>
                </a:solidFill>
                <a:latin typeface="Times new roman"/>
                <a:ea typeface="Verdana"/>
              </a:rPr>
              <a:t>Proposed Direction: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</a:pPr>
            <a:r>
              <a:rPr b="0" lang="en-IN" sz="1600" spc="-1" strike="noStrike">
                <a:solidFill>
                  <a:srgbClr val="000000"/>
                </a:solidFill>
                <a:latin typeface="Times new roman"/>
                <a:ea typeface="Verdana"/>
              </a:rPr>
              <a:t>The system uses Wi-Fi BSSID–based indoor location verification combined with device-level multi-factor authentication for secure and cost-effective attendance marking.</a:t>
            </a:r>
            <a:endParaRPr b="0" lang="en-IN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812880" y="274680"/>
            <a:ext cx="10666440" cy="48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IN" sz="2800" spc="-1" strike="noStrike">
                <a:solidFill>
                  <a:srgbClr val="17365d"/>
                </a:solidFill>
                <a:latin typeface="Times new roman"/>
                <a:ea typeface="Verdana"/>
              </a:rPr>
              <a:t>Analysis of Problem Statement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812880" y="1179000"/>
            <a:ext cx="10666440" cy="4951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70000"/>
          </a:bodyPr>
          <a:p>
            <a:pPr>
              <a:lnSpc>
                <a:spcPct val="100000"/>
              </a:lnSpc>
              <a:spcBef>
                <a:spcPts val="479"/>
              </a:spcBef>
              <a:buNone/>
            </a:pPr>
            <a:r>
              <a:rPr b="1" lang="en-IN" sz="2400" spc="-1" strike="noStrike">
                <a:solidFill>
                  <a:srgbClr val="000000"/>
                </a:solidFill>
                <a:latin typeface="Times new roman"/>
                <a:ea typeface="Verdana"/>
              </a:rPr>
              <a:t>Indoor Location Accuracy: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Verdana"/>
              </a:rPr>
              <a:t>GPS performs poorly inside buildings and cannot reliably identify the exact classroom or floor.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</a:pPr>
            <a:r>
              <a:rPr b="1" lang="en-IN" sz="2400" spc="-1" strike="noStrike">
                <a:solidFill>
                  <a:srgbClr val="000000"/>
                </a:solidFill>
                <a:latin typeface="Times new roman"/>
                <a:ea typeface="Verdana"/>
              </a:rPr>
              <a:t>Strong User Authentication: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Verdana"/>
              </a:rPr>
              <a:t>Single-factor authentication is insufficient to prevent proxy attendance and identity misuse.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</a:pPr>
            <a:r>
              <a:rPr b="1" lang="en-IN" sz="2400" spc="-1" strike="noStrike">
                <a:solidFill>
                  <a:srgbClr val="000000"/>
                </a:solidFill>
                <a:latin typeface="Times new roman"/>
                <a:ea typeface="Verdana"/>
              </a:rPr>
              <a:t>Location Spoofing Prevention: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Verdana"/>
              </a:rPr>
              <a:t>GPS-based systems are vulnerable to mock location apps and software-based location manipulation.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</a:pPr>
            <a:r>
              <a:rPr b="1" lang="en-IN" sz="2400" spc="-1" strike="noStrike">
                <a:solidFill>
                  <a:srgbClr val="000000"/>
                </a:solidFill>
                <a:latin typeface="Times new roman"/>
                <a:ea typeface="Verdana"/>
              </a:rPr>
              <a:t>Proxy Attendance Risk: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Verdana"/>
              </a:rPr>
              <a:t>Existing systems allow one user to mark attendance on behalf of another using shared credentials or devices.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</a:pPr>
            <a:r>
              <a:rPr b="1" lang="en-IN" sz="2400" spc="-1" strike="noStrike">
                <a:solidFill>
                  <a:srgbClr val="000000"/>
                </a:solidFill>
                <a:latin typeface="Times new roman"/>
                <a:ea typeface="Verdana"/>
              </a:rPr>
              <a:t>Hardware Dependency: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Verdana"/>
              </a:rPr>
              <a:t>Dedicated biometric and RFID devices increase deployment cost, maintenance effort, and operational complexity.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</a:pPr>
            <a:r>
              <a:rPr b="1" lang="en-IN" sz="2400" spc="-1" strike="noStrike">
                <a:solidFill>
                  <a:srgbClr val="000000"/>
                </a:solidFill>
                <a:latin typeface="Times new roman"/>
                <a:ea typeface="Verdana"/>
              </a:rPr>
              <a:t>Scalability and Flexibility: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Verdana"/>
              </a:rPr>
              <a:t>Physical hardware-based systems are difficult to scale across large campuses or multiple locations.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</a:pPr>
            <a:r>
              <a:rPr b="1" lang="en-IN" sz="2400" spc="-1" strike="noStrike">
                <a:solidFill>
                  <a:srgbClr val="000000"/>
                </a:solidFill>
                <a:latin typeface="Times new roman"/>
                <a:ea typeface="Verdana"/>
              </a:rPr>
              <a:t>Privacy Concerns: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Verdana"/>
              </a:rPr>
              <a:t>Storing biometric data on servers raises security and privacy risks if data is compromised.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</a:pPr>
            <a:r>
              <a:rPr b="1" lang="en-IN" sz="2400" spc="-1" strike="noStrike">
                <a:solidFill>
                  <a:srgbClr val="000000"/>
                </a:solidFill>
                <a:latin typeface="Times new roman"/>
                <a:ea typeface="Verdana"/>
              </a:rPr>
              <a:t>Cost-Effective Deployment: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Verdana"/>
              </a:rPr>
              <a:t>Institutions require a solution that leverages existing infrastructure without additional hardware investment.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43" name="Rectangle 3"/>
          <p:cNvSpPr/>
          <p:nvPr/>
        </p:nvSpPr>
        <p:spPr>
          <a:xfrm>
            <a:off x="63720" y="-319320"/>
            <a:ext cx="180360" cy="6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90000" rIns="90000" tIns="45000" bIns="45000" anchor="ctr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360000" y="115560"/>
            <a:ext cx="10970280" cy="48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IN" sz="2800" spc="-1" strike="noStrike">
                <a:solidFill>
                  <a:srgbClr val="17365d"/>
                </a:solidFill>
                <a:latin typeface="Times new roman"/>
                <a:ea typeface="Verdana"/>
              </a:rPr>
              <a:t>Proposed Solution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/>
          </p:nvPr>
        </p:nvSpPr>
        <p:spPr>
          <a:xfrm>
            <a:off x="540000" y="900000"/>
            <a:ext cx="10666440" cy="4951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73000"/>
          </a:bodyPr>
          <a:p>
            <a:pPr>
              <a:lnSpc>
                <a:spcPct val="100000"/>
              </a:lnSpc>
              <a:spcBef>
                <a:spcPts val="479"/>
              </a:spcBef>
              <a:buNone/>
            </a:pPr>
            <a:r>
              <a:rPr b="1" lang="en-IN" sz="2400" spc="-1" strike="noStrike">
                <a:solidFill>
                  <a:srgbClr val="000000"/>
                </a:solidFill>
                <a:latin typeface="Times new roman"/>
                <a:ea typeface="Verdana"/>
              </a:rPr>
              <a:t>Wi-Fi BSSID Validation: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Verdana"/>
              </a:rPr>
              <a:t>Verifies physical presence by matching the connected Wi-Fi BSSID with authorized classroom or workplace networks.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</a:pP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</a:pPr>
            <a:r>
              <a:rPr b="1" lang="en-IN" sz="2400" spc="-1" strike="noStrike">
                <a:solidFill>
                  <a:srgbClr val="000000"/>
                </a:solidFill>
                <a:latin typeface="Times new roman"/>
                <a:ea typeface="Verdana"/>
              </a:rPr>
              <a:t>Mock Location Detection: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Verdana"/>
              </a:rPr>
              <a:t>Detects OS-level mock location settings and fake GPS providers to prevent location spoofing.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</a:pP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</a:pPr>
            <a:r>
              <a:rPr b="1" lang="en-IN" sz="2400" spc="-1" strike="noStrike">
                <a:solidFill>
                  <a:srgbClr val="000000"/>
                </a:solidFill>
                <a:latin typeface="Times new roman"/>
                <a:ea typeface="Verdana"/>
              </a:rPr>
              <a:t>Device-Level Biometrics: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Verdana"/>
              </a:rPr>
              <a:t>Uses built-in face and fingerprint authentication without storing any biometric data in the application.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</a:pP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</a:pPr>
            <a:r>
              <a:rPr b="1" lang="en-IN" sz="2400" spc="-1" strike="noStrike">
                <a:solidFill>
                  <a:srgbClr val="000000"/>
                </a:solidFill>
                <a:latin typeface="Times new roman"/>
                <a:ea typeface="Verdana"/>
              </a:rPr>
              <a:t>Password / PIN Fallback: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Verdana"/>
              </a:rPr>
              <a:t>Provides an additional authentication layer when biometric verification is unavailable.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</a:pP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</a:pPr>
            <a:r>
              <a:rPr b="1" lang="en-IN" sz="2400" spc="-1" strike="noStrike">
                <a:solidFill>
                  <a:srgbClr val="000000"/>
                </a:solidFill>
                <a:latin typeface="Times new roman"/>
                <a:ea typeface="Verdana"/>
              </a:rPr>
              <a:t>Web-Based Admin System: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Verdana"/>
              </a:rPr>
              <a:t>Enables user management, attendance monitoring, configuration, and report generation through a centralized dashboard.</a:t>
            </a:r>
            <a:endParaRPr b="0" lang="en-IN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663840" y="115560"/>
            <a:ext cx="10666440" cy="48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marL="152280">
              <a:lnSpc>
                <a:spcPct val="200000"/>
              </a:lnSpc>
              <a:buNone/>
            </a:pPr>
            <a:r>
              <a:rPr b="1" lang="en-US" sz="2800" spc="-1" strike="noStrike">
                <a:solidFill>
                  <a:srgbClr val="17365d"/>
                </a:solidFill>
                <a:latin typeface="Times new roman"/>
                <a:ea typeface="Cambria"/>
              </a:rPr>
              <a:t>Technology Stack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812880" y="1143000"/>
            <a:ext cx="10666440" cy="4951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343080" indent="-19044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  <a:ea typeface="Verdana"/>
              </a:rPr>
              <a:t>Technology Stack Components:</a:t>
            </a:r>
            <a:endParaRPr b="0" lang="en-IN" sz="1600" spc="-1" strike="noStrike">
              <a:latin typeface="Arial"/>
            </a:endParaRPr>
          </a:p>
          <a:p>
            <a:pPr marL="343080" indent="-190440" algn="just"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600" spc="-1" strike="noStrike">
              <a:latin typeface="Arial"/>
            </a:endParaRPr>
          </a:p>
          <a:p>
            <a:pPr marL="438120" indent="-28584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Times new roman"/>
                <a:ea typeface="Verdana"/>
              </a:rPr>
              <a:t>Cross-Platform Framework:</a:t>
            </a:r>
            <a:r>
              <a:rPr b="0" lang="en-US" sz="1600" spc="-1" strike="noStrike">
                <a:solidFill>
                  <a:srgbClr val="000000"/>
                </a:solidFill>
                <a:latin typeface="Times new roman"/>
                <a:ea typeface="Verdana"/>
              </a:rPr>
              <a:t> Flutter or React Native </a:t>
            </a:r>
            <a:endParaRPr b="0" lang="en-IN" sz="1600" spc="-1" strike="noStrike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600" spc="-1" strike="noStrike">
              <a:latin typeface="Arial"/>
            </a:endParaRPr>
          </a:p>
          <a:p>
            <a:pPr marL="438120" indent="-28584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IN" sz="1600" spc="-1" strike="noStrike">
                <a:solidFill>
                  <a:srgbClr val="000000"/>
                </a:solidFill>
                <a:latin typeface="Times new roman"/>
                <a:ea typeface="Verdana"/>
              </a:rPr>
              <a:t>Backend Framework:</a:t>
            </a:r>
            <a:r>
              <a:rPr b="0" lang="en-IN" sz="1600" spc="-1" strike="noStrike">
                <a:solidFill>
                  <a:srgbClr val="000000"/>
                </a:solidFill>
                <a:latin typeface="Times new roman"/>
                <a:ea typeface="Verdana"/>
              </a:rPr>
              <a:t> Node.js (Express), Python (Django/Flask), or Java (Spring) </a:t>
            </a:r>
            <a:endParaRPr b="0" lang="en-IN" sz="1600" spc="-1" strike="noStrike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600" spc="-1" strike="noStrike">
              <a:latin typeface="Arial"/>
            </a:endParaRPr>
          </a:p>
          <a:p>
            <a:pPr marL="438120" indent="-28584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Times new roman"/>
                <a:ea typeface="Verdana"/>
              </a:rPr>
              <a:t>Database:</a:t>
            </a:r>
            <a:r>
              <a:rPr b="0" lang="en-US" sz="1600" spc="-1" strike="noStrike">
                <a:solidFill>
                  <a:srgbClr val="000000"/>
                </a:solidFill>
                <a:latin typeface="Times new roman"/>
                <a:ea typeface="Verdana"/>
              </a:rPr>
              <a:t> PostgreSQL or MongoDB</a:t>
            </a:r>
            <a:endParaRPr b="0" lang="en-IN" sz="1600" spc="-1" strike="noStrike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600" spc="-1" strike="noStrike">
              <a:latin typeface="Arial"/>
            </a:endParaRPr>
          </a:p>
          <a:p>
            <a:pPr marL="438120" indent="-28584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IN" sz="1600" spc="-1" strike="noStrike">
                <a:solidFill>
                  <a:srgbClr val="000000"/>
                </a:solidFill>
                <a:latin typeface="Times new roman"/>
                <a:ea typeface="Verdana"/>
              </a:rPr>
              <a:t>Cloud Platform:</a:t>
            </a:r>
            <a:r>
              <a:rPr b="0" lang="en-IN" sz="1600" spc="-1" strike="noStrike">
                <a:solidFill>
                  <a:srgbClr val="000000"/>
                </a:solidFill>
                <a:latin typeface="Times new roman"/>
                <a:ea typeface="Verdana"/>
              </a:rPr>
              <a:t> AWS, Azure, or Google Cloud Platform (GCP)</a:t>
            </a:r>
            <a:endParaRPr b="0" lang="en-IN" sz="1600" spc="-1" strike="noStrike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600" spc="-1" strike="noStrike">
              <a:latin typeface="Arial"/>
            </a:endParaRPr>
          </a:p>
          <a:p>
            <a:pPr marL="438120" indent="-28584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IN" sz="1600" spc="-1" strike="noStrike">
                <a:solidFill>
                  <a:srgbClr val="000000"/>
                </a:solidFill>
                <a:latin typeface="Times new roman"/>
                <a:ea typeface="Verdana"/>
              </a:rPr>
              <a:t>Biometric SDKs:</a:t>
            </a:r>
            <a:endParaRPr b="0" lang="en-IN" sz="1600" spc="-1" strike="noStrike">
              <a:latin typeface="Arial"/>
            </a:endParaRPr>
          </a:p>
          <a:p>
            <a:pPr marL="152280" algn="just"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600" spc="-1" strike="noStrike">
              <a:latin typeface="Arial"/>
            </a:endParaRPr>
          </a:p>
          <a:p>
            <a:pPr marL="438120" indent="-28584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IN" sz="1600" spc="-1" strike="noStrike">
                <a:solidFill>
                  <a:srgbClr val="000000"/>
                </a:solidFill>
                <a:latin typeface="Times new roman"/>
                <a:ea typeface="Verdana"/>
              </a:rPr>
              <a:t>Device-level:</a:t>
            </a:r>
            <a:r>
              <a:rPr b="0" lang="en-IN" sz="1600" spc="-1" strike="noStrike">
                <a:solidFill>
                  <a:srgbClr val="000000"/>
                </a:solidFill>
                <a:latin typeface="Times new roman"/>
                <a:ea typeface="Verdana"/>
              </a:rPr>
              <a:t> Android Biometric Prompt, iOS Local Authentication</a:t>
            </a:r>
            <a:endParaRPr b="0" lang="en-IN" sz="1600" spc="-1" strike="noStrike">
              <a:latin typeface="Arial"/>
            </a:endParaRPr>
          </a:p>
          <a:p>
            <a:pPr marL="15228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600" spc="-1" strike="noStrike">
                <a:solidFill>
                  <a:srgbClr val="000000"/>
                </a:solidFill>
                <a:latin typeface="Times new roman"/>
                <a:ea typeface="Verdana"/>
              </a:rPr>
              <a:t> </a:t>
            </a:r>
            <a:endParaRPr b="0" lang="en-IN" sz="1600" spc="-1" strike="noStrike">
              <a:latin typeface="Arial"/>
            </a:endParaRPr>
          </a:p>
          <a:p>
            <a:pPr marL="438120" indent="-28584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Times new roman"/>
                <a:ea typeface="Verdana"/>
              </a:rPr>
              <a:t>Server-side:</a:t>
            </a:r>
            <a:r>
              <a:rPr b="0" lang="en-US" sz="1600" spc="-1" strike="noStrike">
                <a:solidFill>
                  <a:srgbClr val="000000"/>
                </a:solidFill>
                <a:latin typeface="Times new roman"/>
                <a:ea typeface="Verdana"/>
              </a:rPr>
              <a:t> Open-source Biometric SDK for multimodal matching </a:t>
            </a:r>
            <a:endParaRPr b="0" lang="en-IN" sz="1600" spc="-1" strike="noStrike">
              <a:latin typeface="Arial"/>
            </a:endParaRPr>
          </a:p>
          <a:p>
            <a:pPr marL="152280" algn="just"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600" spc="-1" strike="noStrike">
              <a:latin typeface="Arial"/>
            </a:endParaRPr>
          </a:p>
          <a:p>
            <a:pPr marL="438120" indent="-28584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IN" sz="1600" spc="-1" strike="noStrike">
                <a:solidFill>
                  <a:srgbClr val="000000"/>
                </a:solidFill>
                <a:latin typeface="Times new roman"/>
                <a:ea typeface="Verdana"/>
              </a:rPr>
              <a:t>Security Protocols:</a:t>
            </a:r>
            <a:r>
              <a:rPr b="0" lang="en-IN" sz="1600" spc="-1" strike="noStrike">
                <a:solidFill>
                  <a:srgbClr val="000000"/>
                </a:solidFill>
                <a:latin typeface="Times new roman"/>
                <a:ea typeface="Verdana"/>
              </a:rPr>
              <a:t> TLS/HTTPS, OAuth2/JWT, AES-256 encryption   </a:t>
            </a:r>
            <a:endParaRPr b="0" lang="en-IN" sz="1600" spc="-1" strike="noStrike">
              <a:latin typeface="Arial"/>
            </a:endParaRPr>
          </a:p>
          <a:p>
            <a:pPr marL="343080" indent="-190440" algn="just"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600" spc="-1" strike="noStrike">
              <a:latin typeface="Arial"/>
            </a:endParaRPr>
          </a:p>
          <a:p>
            <a:pPr marL="343080" indent="-190440" algn="just"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600" spc="-1" strike="noStrike">
              <a:latin typeface="Arial"/>
            </a:endParaRPr>
          </a:p>
          <a:p>
            <a:pPr marL="343080" indent="-190440" algn="just"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600" spc="-1" strike="noStrike">
              <a:latin typeface="Arial"/>
            </a:endParaRPr>
          </a:p>
          <a:p>
            <a:pPr marL="343080" indent="-190440" algn="just"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600" spc="-1" strike="noStrike">
              <a:latin typeface="Arial"/>
            </a:endParaRPr>
          </a:p>
          <a:p>
            <a:pPr marL="343080" indent="-190440" algn="just"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600" spc="-1" strike="noStrike">
              <a:latin typeface="Arial"/>
            </a:endParaRPr>
          </a:p>
          <a:p>
            <a:pPr marL="343080" indent="-190440" algn="just">
              <a:lnSpc>
                <a:spcPct val="200000"/>
              </a:lnSpc>
              <a:buNone/>
              <a:tabLst>
                <a:tab algn="l" pos="0"/>
              </a:tabLst>
            </a:pPr>
            <a:endParaRPr b="0" lang="en-IN" sz="1600" spc="-1" strike="noStrike">
              <a:latin typeface="Arial"/>
            </a:endParaRPr>
          </a:p>
          <a:p>
            <a:pPr marL="343080" indent="-190440" algn="just">
              <a:lnSpc>
                <a:spcPct val="200000"/>
              </a:lnSpc>
              <a:buNone/>
              <a:tabLst>
                <a:tab algn="l" pos="0"/>
              </a:tabLst>
            </a:pPr>
            <a:endParaRPr b="0" lang="en-IN" sz="1600" spc="-1" strike="noStrike">
              <a:latin typeface="Arial"/>
            </a:endParaRPr>
          </a:p>
          <a:p>
            <a:pPr marL="343080" indent="-190440" algn="just">
              <a:lnSpc>
                <a:spcPct val="200000"/>
              </a:lnSpc>
              <a:buNone/>
              <a:tabLst>
                <a:tab algn="l" pos="0"/>
              </a:tabLst>
            </a:pPr>
            <a:endParaRPr b="0" lang="en-IN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"/>
          <p:cNvSpPr/>
          <p:nvPr/>
        </p:nvSpPr>
        <p:spPr>
          <a:xfrm>
            <a:off x="720000" y="360000"/>
            <a:ext cx="737964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IN" sz="2800" spc="-1" strike="noStrike">
                <a:solidFill>
                  <a:srgbClr val="17365d"/>
                </a:solidFill>
                <a:latin typeface="Times new roman"/>
                <a:ea typeface="Verdana"/>
              </a:rPr>
              <a:t>Git Hub Link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2160000" y="2216520"/>
            <a:ext cx="70196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2400" spc="-1" strike="noStrike" u="sng">
                <a:solidFill>
                  <a:srgbClr val="0000ff"/>
                </a:solidFill>
                <a:uFillTx/>
                <a:latin typeface="Times New Roman"/>
                <a:hlinkClick r:id="rId1"/>
              </a:rPr>
              <a:t>Multifactor based Geolocation Attendance System GIT.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50" name=""/>
          <p:cNvSpPr/>
          <p:nvPr/>
        </p:nvSpPr>
        <p:spPr>
          <a:xfrm>
            <a:off x="900000" y="2160000"/>
            <a:ext cx="179964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2800" spc="-1" strike="noStrike">
                <a:latin typeface="Times new roman"/>
              </a:rPr>
              <a:t>LINK:</a:t>
            </a:r>
            <a:endParaRPr b="0" lang="en-IN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Picture 4" descr=""/>
          <p:cNvPicPr/>
          <p:nvPr/>
        </p:nvPicPr>
        <p:blipFill>
          <a:blip r:embed="rId1"/>
          <a:stretch/>
        </p:blipFill>
        <p:spPr>
          <a:xfrm>
            <a:off x="4082760" y="1441440"/>
            <a:ext cx="3891960" cy="3934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2025-08-20T03:51:44Z</dcterms:created>
  <dc:creator>Admin</dc:creator>
  <dc:description/>
  <dc:language>en-IN</dc:language>
  <cp:lastModifiedBy/>
  <dcterms:modified xsi:type="dcterms:W3CDTF">2026-02-07T10:31:18Z</dcterms:modified>
  <cp:revision>49</cp:revision>
  <dc:subject/>
  <dc:title>PROJECT TITLE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E6A35B7518FE4A5A924F8357D5CE77D3_12</vt:lpwstr>
  </property>
  <property fmtid="{D5CDD505-2E9C-101B-9397-08002B2CF9AE}" pid="3" name="KSOProductBuildVer">
    <vt:lpwstr>1033-12.2.0.21931</vt:lpwstr>
  </property>
  <property fmtid="{D5CDD505-2E9C-101B-9397-08002B2CF9AE}" pid="4" name="Notes">
    <vt:r8>11</vt:r8>
  </property>
  <property fmtid="{D5CDD505-2E9C-101B-9397-08002B2CF9AE}" pid="5" name="PresentationFormat">
    <vt:lpwstr>Widescreen</vt:lpwstr>
  </property>
  <property fmtid="{D5CDD505-2E9C-101B-9397-08002B2CF9AE}" pid="6" name="Slides">
    <vt:r8>14</vt:r8>
  </property>
</Properties>
</file>